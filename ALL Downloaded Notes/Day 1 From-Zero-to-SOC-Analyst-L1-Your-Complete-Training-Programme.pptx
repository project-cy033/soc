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66" r:id="rId4"/>
    <p:sldId id="258" r:id="rId5"/>
    <p:sldId id="259" r:id="rId6"/>
    <p:sldId id="261" r:id="rId7"/>
    <p:sldId id="262" r:id="rId8"/>
    <p:sldId id="263" r:id="rId9"/>
    <p:sldId id="264" r:id="rId10"/>
    <p:sldId id="265" r:id="rId11"/>
  </p:sldIdLst>
  <p:sldSz cx="14630400" cy="8229600"/>
  <p:notesSz cx="8229600" cy="14630400"/>
  <p:embeddedFontLst>
    <p:embeddedFont>
      <p:font typeface="DM Sans Medium" pitchFamily="2" charset="0"/>
      <p:regular r:id="rId13"/>
    </p:embeddedFont>
    <p:embeddedFont>
      <p:font typeface="Inter"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693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D2543-36D8-6855-8E83-AD5130236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D8306-B9A3-5404-AF57-1248BEEEE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8964E-B6F6-022F-C918-332DF57F47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5F58FC-5D75-D845-6B96-88A6171AD24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43089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83237"/>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From Zero to SOC Analyst L1: Your Complete Training Programme + Certification</a:t>
            </a:r>
            <a:endParaRPr lang="en-US" sz="3900" dirty="0"/>
          </a:p>
        </p:txBody>
      </p:sp>
      <p:sp>
        <p:nvSpPr>
          <p:cNvPr id="4" name="Text 1"/>
          <p:cNvSpPr/>
          <p:nvPr/>
        </p:nvSpPr>
        <p:spPr>
          <a:xfrm>
            <a:off x="793790" y="4241125"/>
            <a:ext cx="7556421" cy="1905238"/>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Welcome to your transformation journey. This comprehensive training programme will take you from absolute beginner to a confident, interview-ready SOC Analyst Level 1. </a:t>
            </a:r>
          </a:p>
          <a:p>
            <a:pPr marL="0" indent="0" algn="l">
              <a:lnSpc>
                <a:spcPts val="2500"/>
              </a:lnSpc>
              <a:buNone/>
            </a:pPr>
            <a:endParaRPr lang="en-US" sz="1550" dirty="0">
              <a:solidFill>
                <a:srgbClr val="D6D9D7"/>
              </a:solidFill>
              <a:latin typeface="Inter" pitchFamily="34" charset="0"/>
              <a:ea typeface="Inter" pitchFamily="34" charset="-122"/>
              <a:cs typeface="Inter" pitchFamily="34" charset="-120"/>
            </a:endParaRPr>
          </a:p>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You'll learn to think like a security professional, analyze threats with precision, and understand the real-world SOC environment where cyber defenders protect organizations 24x7. No prior experience needed—just commitment to master the skills that matter.</a:t>
            </a:r>
            <a:endParaRPr lang="en-US" sz="1550" dirty="0"/>
          </a:p>
        </p:txBody>
      </p:sp>
      <p:sp>
        <p:nvSpPr>
          <p:cNvPr id="5" name="Shape 0">
            <a:extLst>
              <a:ext uri="{FF2B5EF4-FFF2-40B4-BE49-F238E27FC236}">
                <a16:creationId xmlns:a16="http://schemas.microsoft.com/office/drawing/2014/main" id="{406774CB-D359-22D9-0B03-1C37CA44FFF8}"/>
              </a:ext>
            </a:extLst>
          </p:cNvPr>
          <p:cNvSpPr/>
          <p:nvPr/>
        </p:nvSpPr>
        <p:spPr>
          <a:xfrm>
            <a:off x="2526909" y="989228"/>
            <a:ext cx="4090182" cy="796354"/>
          </a:xfrm>
          <a:prstGeom prst="roundRect">
            <a:avLst>
              <a:gd name="adj" fmla="val 6383"/>
            </a:avLst>
          </a:prstGeom>
          <a:solidFill>
            <a:schemeClr val="accent2"/>
          </a:solidFill>
          <a:ln/>
        </p:spPr>
        <p:txBody>
          <a:bodyPr/>
          <a:lstStyle/>
          <a:p>
            <a:r>
              <a:rPr lang="en-US" sz="4000" dirty="0"/>
              <a:t>Defronix Presents</a:t>
            </a:r>
            <a:endParaRPr lang="en-IN" sz="4000" dirty="0"/>
          </a:p>
        </p:txBody>
      </p:sp>
      <p:pic>
        <p:nvPicPr>
          <p:cNvPr id="7" name="Picture 6">
            <a:extLst>
              <a:ext uri="{FF2B5EF4-FFF2-40B4-BE49-F238E27FC236}">
                <a16:creationId xmlns:a16="http://schemas.microsoft.com/office/drawing/2014/main" id="{997A0100-1447-2994-9BAB-F6676FD36D69}"/>
              </a:ext>
            </a:extLst>
          </p:cNvPr>
          <p:cNvPicPr>
            <a:picLocks noChangeAspect="1"/>
          </p:cNvPicPr>
          <p:nvPr/>
        </p:nvPicPr>
        <p:blipFill>
          <a:blip r:embed="rId4"/>
          <a:stretch>
            <a:fillRect/>
          </a:stretch>
        </p:blipFill>
        <p:spPr>
          <a:xfrm>
            <a:off x="975433" y="753636"/>
            <a:ext cx="1267537" cy="1267537"/>
          </a:xfrm>
          <a:prstGeom prst="rect">
            <a:avLst/>
          </a:prstGeom>
        </p:spPr>
      </p:pic>
      <p:sp>
        <p:nvSpPr>
          <p:cNvPr id="9" name="TextBox 8">
            <a:extLst>
              <a:ext uri="{FF2B5EF4-FFF2-40B4-BE49-F238E27FC236}">
                <a16:creationId xmlns:a16="http://schemas.microsoft.com/office/drawing/2014/main" id="{9920FE99-FC81-1170-69BB-0A53768D2869}"/>
              </a:ext>
            </a:extLst>
          </p:cNvPr>
          <p:cNvSpPr txBox="1"/>
          <p:nvPr/>
        </p:nvSpPr>
        <p:spPr>
          <a:xfrm>
            <a:off x="793790" y="6846368"/>
            <a:ext cx="7315200" cy="629596"/>
          </a:xfrm>
          <a:prstGeom prst="rect">
            <a:avLst/>
          </a:prstGeom>
          <a:noFill/>
        </p:spPr>
        <p:txBody>
          <a:bodyPr wrap="square">
            <a:spAutoFit/>
          </a:bodyPr>
          <a:lstStyle/>
          <a:p>
            <a:pPr marL="285750" indent="-285750" algn="l">
              <a:lnSpc>
                <a:spcPts val="4850"/>
              </a:lnSpc>
              <a:buFontTx/>
              <a:buChar char="-"/>
            </a:pPr>
            <a:r>
              <a:rPr lang="en-US" sz="1800" dirty="0">
                <a:solidFill>
                  <a:schemeClr val="accent2"/>
                </a:solidFill>
                <a:latin typeface="DM Sans Medium" pitchFamily="34" charset="0"/>
                <a:ea typeface="DM Sans Medium" pitchFamily="34" charset="-122"/>
                <a:cs typeface="DM Sans Medium" pitchFamily="34" charset="-120"/>
              </a:rPr>
              <a:t>By Nitesh Singh</a:t>
            </a:r>
            <a:r>
              <a:rPr lang="en-US" dirty="0">
                <a:solidFill>
                  <a:schemeClr val="accent2"/>
                </a:solidFill>
                <a:latin typeface="DM Sans Medium" pitchFamily="34" charset="0"/>
                <a:ea typeface="DM Sans Medium" pitchFamily="34" charset="-122"/>
                <a:cs typeface="DM Sans Medium" pitchFamily="34" charset="-120"/>
              </a:rPr>
              <a:t> (Founder &amp; Director, Defronix Cyber Security)</a:t>
            </a:r>
            <a:endParaRPr lang="en-US" sz="1800" dirty="0">
              <a:solidFill>
                <a:schemeClr val="accent2"/>
              </a:solidFill>
              <a:latin typeface="DM Sans Medium" pitchFamily="34" charset="0"/>
              <a:ea typeface="DM Sans Medium" pitchFamily="34" charset="-122"/>
              <a:cs typeface="DM Sans Medium"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p:nvPr/>
        </p:nvSpPr>
        <p:spPr>
          <a:xfrm>
            <a:off x="793790" y="1226701"/>
            <a:ext cx="8930997" cy="620078"/>
          </a:xfrm>
          <a:prstGeom prst="rect">
            <a:avLst/>
          </a:prstGeom>
          <a:noFill/>
          <a:ln/>
        </p:spPr>
        <p:txBody>
          <a:bodyPr wrap="none" lIns="0" tIns="0" rIns="0" bIns="0" rtlCol="0" anchor="t"/>
          <a:lstStyle/>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Why SOC Exists: The Digital Battlefield</a:t>
            </a:r>
            <a:endParaRPr lang="en-US" sz="3900" dirty="0"/>
          </a:p>
        </p:txBody>
      </p:sp>
      <p:sp>
        <p:nvSpPr>
          <p:cNvPr id="5" name="Text 3"/>
          <p:cNvSpPr/>
          <p:nvPr/>
        </p:nvSpPr>
        <p:spPr>
          <a:xfrm>
            <a:off x="793790" y="2323028"/>
            <a:ext cx="7632025" cy="1905238"/>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Every day, organizations face thousands of cyber attacks—phishing emails, ransomware, data breaches, and insider threats. A single successful breach can cost millions in financial loss, legal penalties, and irreparable damage to reputation. The Security Operations Centre (SOC) exists as the first line of defence, monitoring networks 24x7 to detect, analyze, and respond to these threats before they cause catastrophic damage.</a:t>
            </a:r>
            <a:endParaRPr lang="en-US" sz="1550" dirty="0"/>
          </a:p>
        </p:txBody>
      </p:sp>
      <p:sp>
        <p:nvSpPr>
          <p:cNvPr id="6" name="Text 4"/>
          <p:cNvSpPr/>
          <p:nvPr/>
        </p:nvSpPr>
        <p:spPr>
          <a:xfrm>
            <a:off x="793790" y="4406860"/>
            <a:ext cx="7632025" cy="1905238"/>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SOC teams prevent breaches that could shut down hospitals, steal customer data from banks, or cripple critical infrastructure. Real-world examples like the WannaCry ransomware attack (2017) affecting 200,000+ computers worldwide, or the Equifax breach exposing 147 million records, demonstrate why SOC vigilance matters. These weren't inevitable—proper SOC detection could have minimized impact significantly.</a:t>
            </a:r>
            <a:endParaRPr lang="en-US" sz="1550" dirty="0"/>
          </a:p>
        </p:txBody>
      </p:sp>
      <p:sp>
        <p:nvSpPr>
          <p:cNvPr id="7" name="Text 5"/>
          <p:cNvSpPr/>
          <p:nvPr/>
        </p:nvSpPr>
        <p:spPr>
          <a:xfrm>
            <a:off x="8917543" y="2342793"/>
            <a:ext cx="2728913" cy="310158"/>
          </a:xfrm>
          <a:prstGeom prst="rect">
            <a:avLst/>
          </a:prstGeom>
          <a:noFill/>
          <a:ln/>
        </p:spPr>
        <p:txBody>
          <a:bodyPr wrap="none" lIns="0" tIns="0" rIns="0" bIns="0" rtlCol="0" anchor="t"/>
          <a:lstStyle/>
          <a:p>
            <a:pPr marL="0" indent="0" algn="l">
              <a:lnSpc>
                <a:spcPts val="2400"/>
              </a:lnSpc>
              <a:buNone/>
            </a:pPr>
            <a:r>
              <a:rPr lang="en-US" sz="1950" dirty="0">
                <a:solidFill>
                  <a:srgbClr val="F7F7F8"/>
                </a:solidFill>
                <a:latin typeface="DM Sans Medium" pitchFamily="34" charset="0"/>
                <a:ea typeface="DM Sans Medium" pitchFamily="34" charset="-122"/>
                <a:cs typeface="DM Sans Medium" pitchFamily="34" charset="-120"/>
              </a:rPr>
              <a:t>SOC vs NOC vs IR Team</a:t>
            </a:r>
            <a:endParaRPr lang="en-US" sz="1950" dirty="0"/>
          </a:p>
        </p:txBody>
      </p:sp>
      <p:sp>
        <p:nvSpPr>
          <p:cNvPr id="8" name="Text 6"/>
          <p:cNvSpPr/>
          <p:nvPr/>
        </p:nvSpPr>
        <p:spPr>
          <a:xfrm>
            <a:off x="8917543" y="2851309"/>
            <a:ext cx="4926568"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6D9D7"/>
                </a:solidFill>
                <a:latin typeface="Inter" pitchFamily="34" charset="0"/>
                <a:ea typeface="Inter" pitchFamily="34" charset="-122"/>
                <a:cs typeface="Inter" pitchFamily="34" charset="-120"/>
              </a:rPr>
              <a:t>SOC:</a:t>
            </a:r>
            <a:r>
              <a:rPr lang="en-US" sz="1550" dirty="0">
                <a:solidFill>
                  <a:srgbClr val="D6D9D7"/>
                </a:solidFill>
                <a:latin typeface="Inter" pitchFamily="34" charset="0"/>
                <a:ea typeface="Inter" pitchFamily="34" charset="-122"/>
                <a:cs typeface="Inter" pitchFamily="34" charset="-120"/>
              </a:rPr>
              <a:t> Monitors security events, detects threats, analyzes alerts</a:t>
            </a:r>
            <a:endParaRPr lang="en-US" sz="1550" dirty="0"/>
          </a:p>
        </p:txBody>
      </p:sp>
      <p:sp>
        <p:nvSpPr>
          <p:cNvPr id="9" name="Text 7"/>
          <p:cNvSpPr/>
          <p:nvPr/>
        </p:nvSpPr>
        <p:spPr>
          <a:xfrm>
            <a:off x="8917543" y="3555802"/>
            <a:ext cx="4926568"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6D9D7"/>
                </a:solidFill>
                <a:latin typeface="Inter" pitchFamily="34" charset="0"/>
                <a:ea typeface="Inter" pitchFamily="34" charset="-122"/>
                <a:cs typeface="Inter" pitchFamily="34" charset="-120"/>
              </a:rPr>
              <a:t>NOC:</a:t>
            </a:r>
            <a:r>
              <a:rPr lang="en-US" sz="1550" dirty="0">
                <a:solidFill>
                  <a:srgbClr val="D6D9D7"/>
                </a:solidFill>
                <a:latin typeface="Inter" pitchFamily="34" charset="0"/>
                <a:ea typeface="Inter" pitchFamily="34" charset="-122"/>
                <a:cs typeface="Inter" pitchFamily="34" charset="-120"/>
              </a:rPr>
              <a:t> Monitors network performance, uptime, bandwidth issues</a:t>
            </a:r>
            <a:endParaRPr lang="en-US" sz="1550" dirty="0"/>
          </a:p>
        </p:txBody>
      </p:sp>
      <p:sp>
        <p:nvSpPr>
          <p:cNvPr id="10" name="Text 8"/>
          <p:cNvSpPr/>
          <p:nvPr/>
        </p:nvSpPr>
        <p:spPr>
          <a:xfrm>
            <a:off x="8917543" y="4260294"/>
            <a:ext cx="4926568"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6D9D7"/>
                </a:solidFill>
                <a:latin typeface="Inter" pitchFamily="34" charset="0"/>
                <a:ea typeface="Inter" pitchFamily="34" charset="-122"/>
                <a:cs typeface="Inter" pitchFamily="34" charset="-120"/>
              </a:rPr>
              <a:t>IR Team:</a:t>
            </a:r>
            <a:r>
              <a:rPr lang="en-US" sz="1550" dirty="0">
                <a:solidFill>
                  <a:srgbClr val="D6D9D7"/>
                </a:solidFill>
                <a:latin typeface="Inter" pitchFamily="34" charset="0"/>
                <a:ea typeface="Inter" pitchFamily="34" charset="-122"/>
                <a:cs typeface="Inter" pitchFamily="34" charset="-120"/>
              </a:rPr>
              <a:t> Responds to confirmed incidents, performs forensics, containment</a:t>
            </a:r>
            <a:endParaRPr lang="en-US" sz="1550" dirty="0"/>
          </a:p>
        </p:txBody>
      </p:sp>
      <p:sp>
        <p:nvSpPr>
          <p:cNvPr id="11" name="Shape 9"/>
          <p:cNvSpPr/>
          <p:nvPr/>
        </p:nvSpPr>
        <p:spPr>
          <a:xfrm>
            <a:off x="8917543" y="5118616"/>
            <a:ext cx="4926568" cy="2113359"/>
          </a:xfrm>
          <a:prstGeom prst="roundRect">
            <a:avLst>
              <a:gd name="adj" fmla="val 1409"/>
            </a:avLst>
          </a:prstGeom>
          <a:solidFill>
            <a:srgbClr val="110745"/>
          </a:solidFill>
          <a:ln/>
        </p:spPr>
      </p:sp>
      <p:pic>
        <p:nvPicPr>
          <p:cNvPr id="12" name="Image 0" descr="preencoded.png"/>
          <p:cNvPicPr>
            <a:picLocks noChangeAspect="1"/>
          </p:cNvPicPr>
          <p:nvPr/>
        </p:nvPicPr>
        <p:blipFill>
          <a:blip r:embed="rId3"/>
          <a:stretch>
            <a:fillRect/>
          </a:stretch>
        </p:blipFill>
        <p:spPr>
          <a:xfrm>
            <a:off x="9115901" y="5421511"/>
            <a:ext cx="248007" cy="198358"/>
          </a:xfrm>
          <a:prstGeom prst="rect">
            <a:avLst/>
          </a:prstGeom>
        </p:spPr>
      </p:pic>
      <p:sp>
        <p:nvSpPr>
          <p:cNvPr id="13" name="Text 10"/>
          <p:cNvSpPr/>
          <p:nvPr/>
        </p:nvSpPr>
        <p:spPr>
          <a:xfrm>
            <a:off x="9562267" y="5366504"/>
            <a:ext cx="4083487" cy="1587698"/>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Inter" pitchFamily="34" charset="0"/>
                <a:ea typeface="Inter" pitchFamily="34" charset="-122"/>
                <a:cs typeface="Inter" pitchFamily="34" charset="-120"/>
              </a:rPr>
              <a:t>Think of SOC as the watchtower constantly scanning for enemies, NOC as maintaining the castle walls, and IR as the special forces deployed when attackers breach defences.</a:t>
            </a:r>
            <a:endParaRPr lang="en-US" sz="1550" dirty="0"/>
          </a:p>
        </p:txBody>
      </p:sp>
      <p:sp>
        <p:nvSpPr>
          <p:cNvPr id="14" name="TextBox 13">
            <a:extLst>
              <a:ext uri="{FF2B5EF4-FFF2-40B4-BE49-F238E27FC236}">
                <a16:creationId xmlns:a16="http://schemas.microsoft.com/office/drawing/2014/main" id="{46A96EFE-D6DA-53F2-F1C7-E05E4088151B}"/>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15" name="Picture 14">
            <a:extLst>
              <a:ext uri="{FF2B5EF4-FFF2-40B4-BE49-F238E27FC236}">
                <a16:creationId xmlns:a16="http://schemas.microsoft.com/office/drawing/2014/main" id="{08DCB020-C10F-F1D0-9F65-09490A81648F}"/>
              </a:ext>
            </a:extLst>
          </p:cNvPr>
          <p:cNvPicPr>
            <a:picLocks noChangeAspect="1"/>
          </p:cNvPicPr>
          <p:nvPr/>
        </p:nvPicPr>
        <p:blipFill>
          <a:blip r:embed="rId4"/>
          <a:stretch>
            <a:fillRect/>
          </a:stretch>
        </p:blipFill>
        <p:spPr>
          <a:xfrm>
            <a:off x="12819602" y="269203"/>
            <a:ext cx="1267537" cy="12675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D1BBB-9B00-F406-CE1C-5390D2859E99}"/>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08F2DAAB-893F-9757-79E0-F8E61AF17FED}"/>
              </a:ext>
            </a:extLst>
          </p:cNvPr>
          <p:cNvSpPr/>
          <p:nvPr/>
        </p:nvSpPr>
        <p:spPr>
          <a:xfrm>
            <a:off x="5291624" y="2485668"/>
            <a:ext cx="4047151" cy="620078"/>
          </a:xfrm>
          <a:prstGeom prst="rect">
            <a:avLst/>
          </a:prstGeom>
          <a:noFill/>
          <a:ln/>
        </p:spPr>
        <p:txBody>
          <a:bodyPr wrap="none" lIns="0" tIns="0" rIns="0" bIns="0" rtlCol="0" anchor="t"/>
          <a:lstStyle/>
          <a:p>
            <a:r>
              <a:rPr lang="en-US" sz="4000" dirty="0">
                <a:solidFill>
                  <a:schemeClr val="bg1"/>
                </a:solidFill>
              </a:rPr>
              <a:t>Your Daily Duties :</a:t>
            </a:r>
          </a:p>
        </p:txBody>
      </p:sp>
      <p:sp>
        <p:nvSpPr>
          <p:cNvPr id="5" name="Text 3">
            <a:extLst>
              <a:ext uri="{FF2B5EF4-FFF2-40B4-BE49-F238E27FC236}">
                <a16:creationId xmlns:a16="http://schemas.microsoft.com/office/drawing/2014/main" id="{777A999C-2D91-C551-0FAC-30220B809365}"/>
              </a:ext>
            </a:extLst>
          </p:cNvPr>
          <p:cNvSpPr/>
          <p:nvPr/>
        </p:nvSpPr>
        <p:spPr>
          <a:xfrm>
            <a:off x="1385460" y="3602859"/>
            <a:ext cx="13137363" cy="3335494"/>
          </a:xfrm>
          <a:prstGeom prst="rect">
            <a:avLst/>
          </a:prstGeom>
          <a:noFill/>
          <a:ln/>
        </p:spPr>
        <p:txBody>
          <a:bodyPr wrap="square" lIns="0" tIns="0" rIns="0" bIns="0" rtlCol="0" anchor="t"/>
          <a:lstStyle/>
          <a:p>
            <a:r>
              <a:rPr lang="en-US" sz="1600" dirty="0">
                <a:solidFill>
                  <a:schemeClr val="bg1"/>
                </a:solidFill>
                <a:latin typeface="Inter" panose="020B0604020202020204" charset="0"/>
                <a:ea typeface="Inter" panose="020B0604020202020204" charset="0"/>
              </a:rPr>
              <a:t>As a Junior Security Analyst, also called a SOC Level 1 Analyst, you work in a 24/7 SOC team and mostly review the security alerts together with your colleagues. </a:t>
            </a:r>
          </a:p>
          <a:p>
            <a:endParaRPr lang="en-US" sz="1600" dirty="0">
              <a:solidFill>
                <a:schemeClr val="bg1"/>
              </a:solidFill>
              <a:latin typeface="Inter" panose="020B0604020202020204" charset="0"/>
              <a:ea typeface="Inter" panose="020B0604020202020204" charset="0"/>
            </a:endParaRPr>
          </a:p>
          <a:p>
            <a:r>
              <a:rPr lang="en-US" sz="1600" dirty="0">
                <a:solidFill>
                  <a:schemeClr val="bg1"/>
                </a:solidFill>
                <a:latin typeface="Inter" panose="020B0604020202020204" charset="0"/>
                <a:ea typeface="Inter" panose="020B0604020202020204" charset="0"/>
              </a:rPr>
              <a:t>During your work shift, you would typically:</a:t>
            </a:r>
          </a:p>
          <a:p>
            <a:endParaRPr lang="en-US" sz="1600" dirty="0">
              <a:solidFill>
                <a:schemeClr val="bg1"/>
              </a:solidFill>
              <a:latin typeface="Inter" panose="020B0604020202020204" charset="0"/>
              <a:ea typeface="Inter" panose="020B0604020202020204" charset="0"/>
            </a:endParaRPr>
          </a:p>
          <a:p>
            <a:pPr marL="285750" indent="-285750">
              <a:buFont typeface="Arial" panose="020B0604020202020204" pitchFamily="34" charset="0"/>
              <a:buChar char="•"/>
            </a:pPr>
            <a:r>
              <a:rPr lang="en-US" sz="1600" dirty="0">
                <a:solidFill>
                  <a:schemeClr val="bg1"/>
                </a:solidFill>
                <a:latin typeface="Inter" panose="020B0604020202020204" charset="0"/>
                <a:ea typeface="Inter" panose="020B0604020202020204" charset="0"/>
              </a:rPr>
              <a:t>Monitor and investigate various security alerts</a:t>
            </a:r>
          </a:p>
          <a:p>
            <a:pPr marL="285750" indent="-285750">
              <a:buFont typeface="Arial" panose="020B0604020202020204" pitchFamily="34" charset="0"/>
              <a:buChar char="•"/>
            </a:pPr>
            <a:r>
              <a:rPr lang="en-US" sz="1600" dirty="0">
                <a:solidFill>
                  <a:schemeClr val="bg1"/>
                </a:solidFill>
                <a:latin typeface="Inter" panose="020B0604020202020204" charset="0"/>
                <a:ea typeface="Inter" panose="020B0604020202020204" charset="0"/>
              </a:rPr>
              <a:t>Participate in SOC brainstorms and workshops</a:t>
            </a:r>
          </a:p>
          <a:p>
            <a:pPr marL="285750" indent="-285750">
              <a:buFont typeface="Arial" panose="020B0604020202020204" pitchFamily="34" charset="0"/>
              <a:buChar char="•"/>
            </a:pPr>
            <a:r>
              <a:rPr lang="en-US" sz="1600" dirty="0">
                <a:solidFill>
                  <a:schemeClr val="bg1"/>
                </a:solidFill>
                <a:latin typeface="Inter" panose="020B0604020202020204" charset="0"/>
                <a:ea typeface="Inter" panose="020B0604020202020204" charset="0"/>
              </a:rPr>
              <a:t>Cooperate with other teams to keep your company safe</a:t>
            </a:r>
          </a:p>
          <a:p>
            <a:pPr marL="285750" indent="-285750">
              <a:buFont typeface="Arial" panose="020B0604020202020204" pitchFamily="34" charset="0"/>
              <a:buChar char="•"/>
            </a:pPr>
            <a:r>
              <a:rPr lang="en-US" sz="1600" dirty="0">
                <a:solidFill>
                  <a:schemeClr val="bg1"/>
                </a:solidFill>
                <a:latin typeface="Inter" panose="020B0604020202020204" charset="0"/>
                <a:ea typeface="Inter" panose="020B0604020202020204" charset="0"/>
              </a:rPr>
              <a:t>Constantly learn and discover new attacks and defenses</a:t>
            </a:r>
          </a:p>
        </p:txBody>
      </p:sp>
      <p:sp>
        <p:nvSpPr>
          <p:cNvPr id="14" name="TextBox 13">
            <a:extLst>
              <a:ext uri="{FF2B5EF4-FFF2-40B4-BE49-F238E27FC236}">
                <a16:creationId xmlns:a16="http://schemas.microsoft.com/office/drawing/2014/main" id="{537049BC-4883-9D16-BC8B-9B6F384C2025}"/>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2" name="Picture 1">
            <a:extLst>
              <a:ext uri="{FF2B5EF4-FFF2-40B4-BE49-F238E27FC236}">
                <a16:creationId xmlns:a16="http://schemas.microsoft.com/office/drawing/2014/main" id="{DE6AA217-F703-3322-34A0-C4509998FB99}"/>
              </a:ext>
            </a:extLst>
          </p:cNvPr>
          <p:cNvPicPr>
            <a:picLocks noChangeAspect="1"/>
          </p:cNvPicPr>
          <p:nvPr/>
        </p:nvPicPr>
        <p:blipFill>
          <a:blip r:embed="rId3"/>
          <a:stretch>
            <a:fillRect/>
          </a:stretch>
        </p:blipFill>
        <p:spPr>
          <a:xfrm>
            <a:off x="12819602" y="269203"/>
            <a:ext cx="1267537" cy="1267537"/>
          </a:xfrm>
          <a:prstGeom prst="rect">
            <a:avLst/>
          </a:prstGeom>
        </p:spPr>
      </p:pic>
    </p:spTree>
    <p:extLst>
      <p:ext uri="{BB962C8B-B14F-4D97-AF65-F5344CB8AC3E}">
        <p14:creationId xmlns:p14="http://schemas.microsoft.com/office/powerpoint/2010/main" val="2287153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2"/>
          <p:cNvSpPr/>
          <p:nvPr/>
        </p:nvSpPr>
        <p:spPr>
          <a:xfrm>
            <a:off x="793790" y="1449348"/>
            <a:ext cx="9904333" cy="620078"/>
          </a:xfrm>
          <a:prstGeom prst="rect">
            <a:avLst/>
          </a:prstGeom>
          <a:noFill/>
          <a:ln/>
        </p:spPr>
        <p:txBody>
          <a:bodyPr wrap="none" lIns="0" tIns="0" rIns="0" bIns="0" rtlCol="0" anchor="t"/>
          <a:lstStyle/>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SOC Analyst L1: Your Role on the Front Line</a:t>
            </a:r>
            <a:endParaRPr lang="en-US" sz="3900" dirty="0"/>
          </a:p>
        </p:txBody>
      </p:sp>
      <p:sp>
        <p:nvSpPr>
          <p:cNvPr id="5" name="Shape 3"/>
          <p:cNvSpPr/>
          <p:nvPr/>
        </p:nvSpPr>
        <p:spPr>
          <a:xfrm>
            <a:off x="793790" y="2367082"/>
            <a:ext cx="4215289" cy="3689747"/>
          </a:xfrm>
          <a:prstGeom prst="roundRect">
            <a:avLst>
              <a:gd name="adj" fmla="val 807"/>
            </a:avLst>
          </a:prstGeom>
          <a:solidFill>
            <a:srgbClr val="2D3133"/>
          </a:solidFill>
          <a:ln w="22860">
            <a:solidFill>
              <a:srgbClr val="65696B"/>
            </a:solidFill>
            <a:prstDash val="solid"/>
          </a:ln>
        </p:spPr>
      </p:sp>
      <p:sp>
        <p:nvSpPr>
          <p:cNvPr id="6" name="Shape 4"/>
          <p:cNvSpPr/>
          <p:nvPr/>
        </p:nvSpPr>
        <p:spPr>
          <a:xfrm>
            <a:off x="816650" y="2389942"/>
            <a:ext cx="4169569" cy="595313"/>
          </a:xfrm>
          <a:prstGeom prst="roundRect">
            <a:avLst>
              <a:gd name="adj" fmla="val 393"/>
            </a:avLst>
          </a:prstGeom>
          <a:solidFill>
            <a:srgbClr val="4C5052"/>
          </a:solidFill>
          <a:ln/>
        </p:spPr>
      </p:sp>
      <p:sp>
        <p:nvSpPr>
          <p:cNvPr id="7" name="Text 5"/>
          <p:cNvSpPr/>
          <p:nvPr/>
        </p:nvSpPr>
        <p:spPr>
          <a:xfrm>
            <a:off x="2752606" y="2501503"/>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D6D9D7"/>
                </a:solidFill>
                <a:latin typeface="DM Sans Medium" pitchFamily="34" charset="0"/>
                <a:ea typeface="DM Sans Medium" pitchFamily="34" charset="-122"/>
                <a:cs typeface="DM Sans Medium" pitchFamily="34" charset="-120"/>
              </a:rPr>
              <a:t>1</a:t>
            </a:r>
            <a:endParaRPr lang="en-US" sz="2300" dirty="0"/>
          </a:p>
        </p:txBody>
      </p:sp>
      <p:sp>
        <p:nvSpPr>
          <p:cNvPr id="8" name="Text 6"/>
          <p:cNvSpPr/>
          <p:nvPr/>
        </p:nvSpPr>
        <p:spPr>
          <a:xfrm>
            <a:off x="1015008" y="3183612"/>
            <a:ext cx="2680216" cy="310158"/>
          </a:xfrm>
          <a:prstGeom prst="rect">
            <a:avLst/>
          </a:prstGeom>
          <a:noFill/>
          <a:ln/>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Monitor &amp; Triage Alerts</a:t>
            </a:r>
            <a:endParaRPr lang="en-US" sz="1950" dirty="0"/>
          </a:p>
        </p:txBody>
      </p:sp>
      <p:sp>
        <p:nvSpPr>
          <p:cNvPr id="9" name="Text 7"/>
          <p:cNvSpPr/>
          <p:nvPr/>
        </p:nvSpPr>
        <p:spPr>
          <a:xfrm>
            <a:off x="1015008" y="3612833"/>
            <a:ext cx="3772853" cy="2222778"/>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Your primary responsibility is watching SIEM dashboards for security alerts. When an alert fires, you perform initial triage—is this a real threat or false positive? You gather context, check logs, and make the critical first decision.</a:t>
            </a:r>
            <a:endParaRPr lang="en-US" sz="1550" dirty="0"/>
          </a:p>
        </p:txBody>
      </p:sp>
      <p:sp>
        <p:nvSpPr>
          <p:cNvPr id="10" name="Shape 8"/>
          <p:cNvSpPr/>
          <p:nvPr/>
        </p:nvSpPr>
        <p:spPr>
          <a:xfrm>
            <a:off x="5207437" y="2367082"/>
            <a:ext cx="4215408" cy="3689747"/>
          </a:xfrm>
          <a:prstGeom prst="roundRect">
            <a:avLst>
              <a:gd name="adj" fmla="val 807"/>
            </a:avLst>
          </a:prstGeom>
          <a:solidFill>
            <a:srgbClr val="2D3133"/>
          </a:solidFill>
          <a:ln w="22860">
            <a:solidFill>
              <a:srgbClr val="65696B"/>
            </a:solidFill>
            <a:prstDash val="solid"/>
          </a:ln>
        </p:spPr>
      </p:sp>
      <p:sp>
        <p:nvSpPr>
          <p:cNvPr id="11" name="Shape 9"/>
          <p:cNvSpPr/>
          <p:nvPr/>
        </p:nvSpPr>
        <p:spPr>
          <a:xfrm>
            <a:off x="5230297" y="2389942"/>
            <a:ext cx="4169688" cy="595313"/>
          </a:xfrm>
          <a:prstGeom prst="roundRect">
            <a:avLst>
              <a:gd name="adj" fmla="val 393"/>
            </a:avLst>
          </a:prstGeom>
          <a:solidFill>
            <a:srgbClr val="4C5052"/>
          </a:solidFill>
          <a:ln/>
        </p:spPr>
      </p:sp>
      <p:sp>
        <p:nvSpPr>
          <p:cNvPr id="12" name="Text 10"/>
          <p:cNvSpPr/>
          <p:nvPr/>
        </p:nvSpPr>
        <p:spPr>
          <a:xfrm>
            <a:off x="7166253" y="2501503"/>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D6D9D7"/>
                </a:solidFill>
                <a:latin typeface="DM Sans Medium" pitchFamily="34" charset="0"/>
                <a:ea typeface="DM Sans Medium" pitchFamily="34" charset="-122"/>
                <a:cs typeface="DM Sans Medium" pitchFamily="34" charset="-120"/>
              </a:rPr>
              <a:t>2</a:t>
            </a:r>
            <a:endParaRPr lang="en-US" sz="2300" dirty="0"/>
          </a:p>
        </p:txBody>
      </p:sp>
      <p:sp>
        <p:nvSpPr>
          <p:cNvPr id="13" name="Text 11"/>
          <p:cNvSpPr/>
          <p:nvPr/>
        </p:nvSpPr>
        <p:spPr>
          <a:xfrm>
            <a:off x="5428655" y="318361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Analyze &amp; Document</a:t>
            </a:r>
            <a:endParaRPr lang="en-US" sz="1950" dirty="0"/>
          </a:p>
        </p:txBody>
      </p:sp>
      <p:sp>
        <p:nvSpPr>
          <p:cNvPr id="14" name="Text 12"/>
          <p:cNvSpPr/>
          <p:nvPr/>
        </p:nvSpPr>
        <p:spPr>
          <a:xfrm>
            <a:off x="5428655" y="3612833"/>
            <a:ext cx="3772972" cy="2222778"/>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For each alert, you analyze relevant logs (Windows Event, firewall, proxy), identify indicators of compromise (IOCs), and document findings clearly. Your documentation helps L2/L3 analysts or incident responders take action.</a:t>
            </a:r>
            <a:endParaRPr lang="en-US" sz="1550" dirty="0"/>
          </a:p>
        </p:txBody>
      </p:sp>
      <p:sp>
        <p:nvSpPr>
          <p:cNvPr id="15" name="Shape 13"/>
          <p:cNvSpPr/>
          <p:nvPr/>
        </p:nvSpPr>
        <p:spPr>
          <a:xfrm>
            <a:off x="9621203" y="2367082"/>
            <a:ext cx="4215289" cy="3689747"/>
          </a:xfrm>
          <a:prstGeom prst="roundRect">
            <a:avLst>
              <a:gd name="adj" fmla="val 807"/>
            </a:avLst>
          </a:prstGeom>
          <a:solidFill>
            <a:srgbClr val="2D3133"/>
          </a:solidFill>
          <a:ln w="22860">
            <a:solidFill>
              <a:srgbClr val="65696B"/>
            </a:solidFill>
            <a:prstDash val="solid"/>
          </a:ln>
        </p:spPr>
      </p:sp>
      <p:sp>
        <p:nvSpPr>
          <p:cNvPr id="16" name="Shape 14"/>
          <p:cNvSpPr/>
          <p:nvPr/>
        </p:nvSpPr>
        <p:spPr>
          <a:xfrm>
            <a:off x="9644063" y="2389942"/>
            <a:ext cx="4169569" cy="595313"/>
          </a:xfrm>
          <a:prstGeom prst="roundRect">
            <a:avLst>
              <a:gd name="adj" fmla="val 393"/>
            </a:avLst>
          </a:prstGeom>
          <a:solidFill>
            <a:srgbClr val="4C5052"/>
          </a:solidFill>
          <a:ln/>
        </p:spPr>
      </p:sp>
      <p:sp>
        <p:nvSpPr>
          <p:cNvPr id="17" name="Text 15"/>
          <p:cNvSpPr/>
          <p:nvPr/>
        </p:nvSpPr>
        <p:spPr>
          <a:xfrm>
            <a:off x="11580019" y="2501503"/>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D6D9D7"/>
                </a:solidFill>
                <a:latin typeface="DM Sans Medium" pitchFamily="34" charset="0"/>
                <a:ea typeface="DM Sans Medium" pitchFamily="34" charset="-122"/>
                <a:cs typeface="DM Sans Medium" pitchFamily="34" charset="-120"/>
              </a:rPr>
              <a:t>3</a:t>
            </a:r>
            <a:endParaRPr lang="en-US" sz="2300" dirty="0"/>
          </a:p>
        </p:txBody>
      </p:sp>
      <p:sp>
        <p:nvSpPr>
          <p:cNvPr id="18" name="Text 16"/>
          <p:cNvSpPr/>
          <p:nvPr/>
        </p:nvSpPr>
        <p:spPr>
          <a:xfrm>
            <a:off x="9842421" y="318361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Escalate or Close</a:t>
            </a:r>
            <a:endParaRPr lang="en-US" sz="1950" dirty="0"/>
          </a:p>
        </p:txBody>
      </p:sp>
      <p:sp>
        <p:nvSpPr>
          <p:cNvPr id="19" name="Text 17"/>
          <p:cNvSpPr/>
          <p:nvPr/>
        </p:nvSpPr>
        <p:spPr>
          <a:xfrm>
            <a:off x="9842421" y="3612833"/>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Based on your analysis, you decide: close as false positive, or escalate to L2/L3 for deeper investigation. This decision requires solid understanding of attack patterns and organizational risk.</a:t>
            </a:r>
            <a:endParaRPr lang="en-US" sz="1550" dirty="0"/>
          </a:p>
        </p:txBody>
      </p:sp>
      <p:sp>
        <p:nvSpPr>
          <p:cNvPr id="20" name="Text 18"/>
          <p:cNvSpPr/>
          <p:nvPr/>
        </p:nvSpPr>
        <p:spPr>
          <a:xfrm>
            <a:off x="793790" y="6280071"/>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L1 analysts are the gatekeepers—you filter noise from real threats. Whilst L2 analysts perform deep-dive investigations and L3 handles advanced threat hunting, your role ensures no legitimate threat slips through unnoticed. Shifts are typically 8–12 hours in 24x7 rotation, requiring constant vigilance and quick thinking.</a:t>
            </a:r>
            <a:endParaRPr lang="en-US" sz="1550" dirty="0"/>
          </a:p>
        </p:txBody>
      </p:sp>
      <p:sp>
        <p:nvSpPr>
          <p:cNvPr id="21" name="TextBox 20">
            <a:extLst>
              <a:ext uri="{FF2B5EF4-FFF2-40B4-BE49-F238E27FC236}">
                <a16:creationId xmlns:a16="http://schemas.microsoft.com/office/drawing/2014/main" id="{8B2C959D-8F29-5A5D-ABDD-4A4F03793C41}"/>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22" name="Picture 21">
            <a:extLst>
              <a:ext uri="{FF2B5EF4-FFF2-40B4-BE49-F238E27FC236}">
                <a16:creationId xmlns:a16="http://schemas.microsoft.com/office/drawing/2014/main" id="{8982C405-E529-58C0-59A8-56A9904BCC8B}"/>
              </a:ext>
            </a:extLst>
          </p:cNvPr>
          <p:cNvPicPr>
            <a:picLocks noChangeAspect="1"/>
          </p:cNvPicPr>
          <p:nvPr/>
        </p:nvPicPr>
        <p:blipFill>
          <a:blip r:embed="rId3"/>
          <a:stretch>
            <a:fillRect/>
          </a:stretch>
        </p:blipFill>
        <p:spPr>
          <a:xfrm>
            <a:off x="12819602" y="269203"/>
            <a:ext cx="1267537" cy="12675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2"/>
          <p:cNvSpPr/>
          <p:nvPr/>
        </p:nvSpPr>
        <p:spPr>
          <a:xfrm>
            <a:off x="793790" y="950238"/>
            <a:ext cx="8353425" cy="496133"/>
          </a:xfrm>
          <a:prstGeom prst="rect">
            <a:avLst/>
          </a:prstGeom>
          <a:noFill/>
          <a:ln/>
        </p:spPr>
        <p:txBody>
          <a:bodyPr wrap="none" lIns="0" tIns="0" rIns="0" bIns="0" rtlCol="0" anchor="t"/>
          <a:lstStyle/>
          <a:p>
            <a:pPr marL="0" indent="0" algn="l">
              <a:lnSpc>
                <a:spcPts val="3900"/>
              </a:lnSpc>
              <a:buNone/>
            </a:pPr>
            <a:r>
              <a:rPr lang="en-US" sz="3100" dirty="0">
                <a:solidFill>
                  <a:srgbClr val="F7F7F8"/>
                </a:solidFill>
                <a:latin typeface="DM Sans Medium" pitchFamily="34" charset="0"/>
                <a:ea typeface="DM Sans Medium" pitchFamily="34" charset="-122"/>
                <a:cs typeface="DM Sans Medium" pitchFamily="34" charset="-120"/>
              </a:rPr>
              <a:t>Your Learning Roadmap: Six Strategic Phases</a:t>
            </a:r>
            <a:endParaRPr lang="en-US" sz="3100" dirty="0"/>
          </a:p>
        </p:txBody>
      </p:sp>
      <p:sp>
        <p:nvSpPr>
          <p:cNvPr id="5" name="Text 3"/>
          <p:cNvSpPr/>
          <p:nvPr/>
        </p:nvSpPr>
        <p:spPr>
          <a:xfrm>
            <a:off x="793790" y="1636871"/>
            <a:ext cx="13042821" cy="4572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This structured pathway takes you from fundamentals to job-ready expertise. Each phase builds upon the previous, ensuring you develop both theoretical knowledge and practical SOC-floor thinking. Expect at least 3 months of focused learning depending on your dedication and practice intensity.</a:t>
            </a:r>
            <a:endParaRPr lang="en-US" sz="1250" dirty="0"/>
          </a:p>
        </p:txBody>
      </p:sp>
      <p:sp>
        <p:nvSpPr>
          <p:cNvPr id="6" name="Shape 4"/>
          <p:cNvSpPr/>
          <p:nvPr/>
        </p:nvSpPr>
        <p:spPr>
          <a:xfrm>
            <a:off x="7303770" y="2236946"/>
            <a:ext cx="22860" cy="5371267"/>
          </a:xfrm>
          <a:prstGeom prst="roundRect">
            <a:avLst>
              <a:gd name="adj" fmla="val 104186"/>
            </a:avLst>
          </a:prstGeom>
          <a:solidFill>
            <a:srgbClr val="65696B"/>
          </a:solidFill>
          <a:ln/>
        </p:spPr>
      </p:sp>
      <p:sp>
        <p:nvSpPr>
          <p:cNvPr id="7" name="Shape 5"/>
          <p:cNvSpPr/>
          <p:nvPr/>
        </p:nvSpPr>
        <p:spPr>
          <a:xfrm>
            <a:off x="6683216" y="2404110"/>
            <a:ext cx="476250" cy="22860"/>
          </a:xfrm>
          <a:prstGeom prst="roundRect">
            <a:avLst>
              <a:gd name="adj" fmla="val 104186"/>
            </a:avLst>
          </a:prstGeom>
          <a:solidFill>
            <a:srgbClr val="65696B"/>
          </a:solidFill>
          <a:ln/>
        </p:spPr>
      </p:sp>
      <p:sp>
        <p:nvSpPr>
          <p:cNvPr id="8" name="Shape 6"/>
          <p:cNvSpPr/>
          <p:nvPr/>
        </p:nvSpPr>
        <p:spPr>
          <a:xfrm>
            <a:off x="7136606" y="2236946"/>
            <a:ext cx="357188" cy="357188"/>
          </a:xfrm>
          <a:prstGeom prst="roundRect">
            <a:avLst>
              <a:gd name="adj" fmla="val 6668"/>
            </a:avLst>
          </a:prstGeom>
          <a:solidFill>
            <a:srgbClr val="4C5052"/>
          </a:solidFill>
          <a:ln/>
        </p:spPr>
      </p:sp>
      <p:sp>
        <p:nvSpPr>
          <p:cNvPr id="9" name="Text 7"/>
          <p:cNvSpPr/>
          <p:nvPr/>
        </p:nvSpPr>
        <p:spPr>
          <a:xfrm>
            <a:off x="7196137" y="2266712"/>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D6D9D7"/>
                </a:solidFill>
                <a:latin typeface="DM Sans Medium" pitchFamily="34" charset="0"/>
                <a:ea typeface="DM Sans Medium" pitchFamily="34" charset="-122"/>
                <a:cs typeface="DM Sans Medium" pitchFamily="34" charset="-120"/>
              </a:rPr>
              <a:t>1</a:t>
            </a:r>
            <a:endParaRPr lang="en-US" sz="1850" dirty="0"/>
          </a:p>
        </p:txBody>
      </p:sp>
      <p:sp>
        <p:nvSpPr>
          <p:cNvPr id="10" name="Text 8"/>
          <p:cNvSpPr/>
          <p:nvPr/>
        </p:nvSpPr>
        <p:spPr>
          <a:xfrm>
            <a:off x="3535680" y="2291477"/>
            <a:ext cx="2985730" cy="248007"/>
          </a:xfrm>
          <a:prstGeom prst="rect">
            <a:avLst/>
          </a:prstGeom>
          <a:noFill/>
          <a:ln/>
        </p:spPr>
        <p:txBody>
          <a:bodyPr wrap="none" lIns="0" tIns="0" rIns="0" bIns="0" rtlCol="0" anchor="t"/>
          <a:lstStyle/>
          <a:p>
            <a:pPr marL="0" indent="0" algn="r">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Phase 1: Foundation (Weeks 1-3)</a:t>
            </a:r>
            <a:endParaRPr lang="en-US" sz="1550" dirty="0"/>
          </a:p>
        </p:txBody>
      </p:sp>
      <p:sp>
        <p:nvSpPr>
          <p:cNvPr id="11" name="Text 9"/>
          <p:cNvSpPr/>
          <p:nvPr/>
        </p:nvSpPr>
        <p:spPr>
          <a:xfrm>
            <a:off x="793790" y="2615684"/>
            <a:ext cx="5727621" cy="914400"/>
          </a:xfrm>
          <a:prstGeom prst="rect">
            <a:avLst/>
          </a:prstGeom>
          <a:noFill/>
          <a:ln/>
        </p:spPr>
        <p:txBody>
          <a:bodyPr wrap="square" lIns="0" tIns="0" rIns="0" bIns="0" rtlCol="0" anchor="t"/>
          <a:lstStyle/>
          <a:p>
            <a:pPr marL="0" indent="0" algn="r">
              <a:lnSpc>
                <a:spcPts val="1800"/>
              </a:lnSpc>
              <a:buNone/>
            </a:pPr>
            <a:r>
              <a:rPr lang="en-US" sz="1250" dirty="0">
                <a:solidFill>
                  <a:srgbClr val="D6D9D7"/>
                </a:solidFill>
                <a:latin typeface="Inter" pitchFamily="34" charset="0"/>
                <a:ea typeface="Inter" pitchFamily="34" charset="-122"/>
                <a:cs typeface="Inter" pitchFamily="34" charset="-120"/>
              </a:rPr>
              <a:t>Master networking basics (TCP/IP, DNS, HTTP/HTTPS), understand operating systems (Windows/Linux), learn cybersecurity fundamentals. Why it matters: You can't detect threats without understanding normal network behaviour.</a:t>
            </a:r>
            <a:endParaRPr lang="en-US" sz="1250" dirty="0"/>
          </a:p>
        </p:txBody>
      </p:sp>
      <p:sp>
        <p:nvSpPr>
          <p:cNvPr id="12" name="Shape 10"/>
          <p:cNvSpPr/>
          <p:nvPr/>
        </p:nvSpPr>
        <p:spPr>
          <a:xfrm>
            <a:off x="7470934" y="3293150"/>
            <a:ext cx="476250" cy="22860"/>
          </a:xfrm>
          <a:prstGeom prst="roundRect">
            <a:avLst>
              <a:gd name="adj" fmla="val 104186"/>
            </a:avLst>
          </a:prstGeom>
          <a:solidFill>
            <a:srgbClr val="65696B"/>
          </a:solidFill>
          <a:ln/>
        </p:spPr>
      </p:sp>
      <p:sp>
        <p:nvSpPr>
          <p:cNvPr id="13" name="Shape 11"/>
          <p:cNvSpPr/>
          <p:nvPr/>
        </p:nvSpPr>
        <p:spPr>
          <a:xfrm>
            <a:off x="7136606" y="3125986"/>
            <a:ext cx="357188" cy="357188"/>
          </a:xfrm>
          <a:prstGeom prst="roundRect">
            <a:avLst>
              <a:gd name="adj" fmla="val 6668"/>
            </a:avLst>
          </a:prstGeom>
          <a:solidFill>
            <a:srgbClr val="4C5052"/>
          </a:solidFill>
          <a:ln/>
        </p:spPr>
      </p:sp>
      <p:sp>
        <p:nvSpPr>
          <p:cNvPr id="14" name="Text 12"/>
          <p:cNvSpPr/>
          <p:nvPr/>
        </p:nvSpPr>
        <p:spPr>
          <a:xfrm>
            <a:off x="7196137" y="3155752"/>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D6D9D7"/>
                </a:solidFill>
                <a:latin typeface="DM Sans Medium" pitchFamily="34" charset="0"/>
                <a:ea typeface="DM Sans Medium" pitchFamily="34" charset="-122"/>
                <a:cs typeface="DM Sans Medium" pitchFamily="34" charset="-120"/>
              </a:rPr>
              <a:t>2</a:t>
            </a:r>
            <a:endParaRPr lang="en-US" sz="1850" dirty="0"/>
          </a:p>
        </p:txBody>
      </p:sp>
      <p:sp>
        <p:nvSpPr>
          <p:cNvPr id="15" name="Text 13"/>
          <p:cNvSpPr/>
          <p:nvPr/>
        </p:nvSpPr>
        <p:spPr>
          <a:xfrm>
            <a:off x="8108990" y="3180517"/>
            <a:ext cx="3471743" cy="248007"/>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Phase 2: Core SOC Skills (Weeks 4-6)</a:t>
            </a:r>
            <a:endParaRPr lang="en-US" sz="1550" dirty="0"/>
          </a:p>
        </p:txBody>
      </p:sp>
      <p:sp>
        <p:nvSpPr>
          <p:cNvPr id="16" name="Text 14"/>
          <p:cNvSpPr/>
          <p:nvPr/>
        </p:nvSpPr>
        <p:spPr>
          <a:xfrm>
            <a:off x="8108990" y="3504724"/>
            <a:ext cx="5727621" cy="6858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Learn log analysis, understand security events vs incidents, practice alert triage methodology. Common mistake: Rushing through logs without context—interviewers test your systematic thinking.</a:t>
            </a:r>
            <a:endParaRPr lang="en-US" sz="1250" dirty="0"/>
          </a:p>
        </p:txBody>
      </p:sp>
      <p:sp>
        <p:nvSpPr>
          <p:cNvPr id="17" name="Shape 15"/>
          <p:cNvSpPr/>
          <p:nvPr/>
        </p:nvSpPr>
        <p:spPr>
          <a:xfrm>
            <a:off x="6683216" y="4082415"/>
            <a:ext cx="476250" cy="22860"/>
          </a:xfrm>
          <a:prstGeom prst="roundRect">
            <a:avLst>
              <a:gd name="adj" fmla="val 104186"/>
            </a:avLst>
          </a:prstGeom>
          <a:solidFill>
            <a:srgbClr val="65696B"/>
          </a:solidFill>
          <a:ln/>
        </p:spPr>
      </p:sp>
      <p:sp>
        <p:nvSpPr>
          <p:cNvPr id="18" name="Shape 16"/>
          <p:cNvSpPr/>
          <p:nvPr/>
        </p:nvSpPr>
        <p:spPr>
          <a:xfrm>
            <a:off x="7136606" y="3915251"/>
            <a:ext cx="357188" cy="357188"/>
          </a:xfrm>
          <a:prstGeom prst="roundRect">
            <a:avLst>
              <a:gd name="adj" fmla="val 6668"/>
            </a:avLst>
          </a:prstGeom>
          <a:solidFill>
            <a:srgbClr val="4C5052"/>
          </a:solidFill>
          <a:ln/>
        </p:spPr>
      </p:sp>
      <p:sp>
        <p:nvSpPr>
          <p:cNvPr id="19" name="Text 17"/>
          <p:cNvSpPr/>
          <p:nvPr/>
        </p:nvSpPr>
        <p:spPr>
          <a:xfrm>
            <a:off x="7196137" y="3945017"/>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D6D9D7"/>
                </a:solidFill>
                <a:latin typeface="DM Sans Medium" pitchFamily="34" charset="0"/>
                <a:ea typeface="DM Sans Medium" pitchFamily="34" charset="-122"/>
                <a:cs typeface="DM Sans Medium" pitchFamily="34" charset="-120"/>
              </a:rPr>
              <a:t>3</a:t>
            </a:r>
            <a:endParaRPr lang="en-US" sz="1850" dirty="0"/>
          </a:p>
        </p:txBody>
      </p:sp>
      <p:sp>
        <p:nvSpPr>
          <p:cNvPr id="20" name="Text 18"/>
          <p:cNvSpPr/>
          <p:nvPr/>
        </p:nvSpPr>
        <p:spPr>
          <a:xfrm>
            <a:off x="2475428" y="3969782"/>
            <a:ext cx="4045982" cy="248007"/>
          </a:xfrm>
          <a:prstGeom prst="rect">
            <a:avLst/>
          </a:prstGeom>
          <a:noFill/>
          <a:ln/>
        </p:spPr>
        <p:txBody>
          <a:bodyPr wrap="none" lIns="0" tIns="0" rIns="0" bIns="0" rtlCol="0" anchor="t"/>
          <a:lstStyle/>
          <a:p>
            <a:pPr marL="0" indent="0" algn="r">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Phase 3: Tools &amp; Technologies (Weeks 7-10)</a:t>
            </a:r>
            <a:endParaRPr lang="en-US" sz="1550" dirty="0"/>
          </a:p>
        </p:txBody>
      </p:sp>
      <p:sp>
        <p:nvSpPr>
          <p:cNvPr id="21" name="Text 19"/>
          <p:cNvSpPr/>
          <p:nvPr/>
        </p:nvSpPr>
        <p:spPr>
          <a:xfrm>
            <a:off x="793790" y="4293989"/>
            <a:ext cx="5727621" cy="685800"/>
          </a:xfrm>
          <a:prstGeom prst="rect">
            <a:avLst/>
          </a:prstGeom>
          <a:noFill/>
          <a:ln/>
        </p:spPr>
        <p:txBody>
          <a:bodyPr wrap="square" lIns="0" tIns="0" rIns="0" bIns="0" rtlCol="0" anchor="t"/>
          <a:lstStyle/>
          <a:p>
            <a:pPr marL="0" indent="0" algn="r">
              <a:lnSpc>
                <a:spcPts val="1800"/>
              </a:lnSpc>
              <a:buNone/>
            </a:pPr>
            <a:r>
              <a:rPr lang="en-US" sz="1250" dirty="0">
                <a:solidFill>
                  <a:srgbClr val="D6D9D7"/>
                </a:solidFill>
                <a:latin typeface="Inter" pitchFamily="34" charset="0"/>
                <a:ea typeface="Inter" pitchFamily="34" charset="-122"/>
                <a:cs typeface="Inter" pitchFamily="34" charset="-120"/>
              </a:rPr>
              <a:t>Hands-on with SIEM platforms (Splunk/Sentinel), EDR concepts, MITRE ATT&amp;CK framework. Interviewers expect: Real experience with at least one SIEM, even if through free trials or home labs.</a:t>
            </a:r>
            <a:endParaRPr lang="en-US" sz="1250" dirty="0"/>
          </a:p>
        </p:txBody>
      </p:sp>
      <p:sp>
        <p:nvSpPr>
          <p:cNvPr id="22" name="Shape 20"/>
          <p:cNvSpPr/>
          <p:nvPr/>
        </p:nvSpPr>
        <p:spPr>
          <a:xfrm>
            <a:off x="7470934" y="4871799"/>
            <a:ext cx="476250" cy="22860"/>
          </a:xfrm>
          <a:prstGeom prst="roundRect">
            <a:avLst>
              <a:gd name="adj" fmla="val 104186"/>
            </a:avLst>
          </a:prstGeom>
          <a:solidFill>
            <a:srgbClr val="65696B"/>
          </a:solidFill>
          <a:ln/>
        </p:spPr>
      </p:sp>
      <p:sp>
        <p:nvSpPr>
          <p:cNvPr id="23" name="Shape 21"/>
          <p:cNvSpPr/>
          <p:nvPr/>
        </p:nvSpPr>
        <p:spPr>
          <a:xfrm>
            <a:off x="7136606" y="4704636"/>
            <a:ext cx="357188" cy="357188"/>
          </a:xfrm>
          <a:prstGeom prst="roundRect">
            <a:avLst>
              <a:gd name="adj" fmla="val 6668"/>
            </a:avLst>
          </a:prstGeom>
          <a:solidFill>
            <a:srgbClr val="4C5052"/>
          </a:solidFill>
          <a:ln/>
        </p:spPr>
      </p:sp>
      <p:sp>
        <p:nvSpPr>
          <p:cNvPr id="24" name="Text 22"/>
          <p:cNvSpPr/>
          <p:nvPr/>
        </p:nvSpPr>
        <p:spPr>
          <a:xfrm>
            <a:off x="7196137" y="4734401"/>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D6D9D7"/>
                </a:solidFill>
                <a:latin typeface="DM Sans Medium" pitchFamily="34" charset="0"/>
                <a:ea typeface="DM Sans Medium" pitchFamily="34" charset="-122"/>
                <a:cs typeface="DM Sans Medium" pitchFamily="34" charset="-120"/>
              </a:rPr>
              <a:t>4</a:t>
            </a:r>
            <a:endParaRPr lang="en-US" sz="1850" dirty="0"/>
          </a:p>
        </p:txBody>
      </p:sp>
      <p:sp>
        <p:nvSpPr>
          <p:cNvPr id="25" name="Text 23"/>
          <p:cNvSpPr/>
          <p:nvPr/>
        </p:nvSpPr>
        <p:spPr>
          <a:xfrm>
            <a:off x="8108990" y="4759166"/>
            <a:ext cx="3702844" cy="248007"/>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Phase 4: Threat Detection (Weeks 11-14)</a:t>
            </a:r>
            <a:endParaRPr lang="en-US" sz="1550" dirty="0"/>
          </a:p>
        </p:txBody>
      </p:sp>
      <p:sp>
        <p:nvSpPr>
          <p:cNvPr id="26" name="Text 24"/>
          <p:cNvSpPr/>
          <p:nvPr/>
        </p:nvSpPr>
        <p:spPr>
          <a:xfrm>
            <a:off x="8108990" y="5083373"/>
            <a:ext cx="5727621" cy="6858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Study common attacks from defender perspective—phishing, malware, brute force, lateral movement. Why critical: Interviews heavily test scenario-based threat identification.</a:t>
            </a:r>
            <a:endParaRPr lang="en-US" sz="1250" dirty="0"/>
          </a:p>
        </p:txBody>
      </p:sp>
      <p:sp>
        <p:nvSpPr>
          <p:cNvPr id="27" name="Shape 25"/>
          <p:cNvSpPr/>
          <p:nvPr/>
        </p:nvSpPr>
        <p:spPr>
          <a:xfrm>
            <a:off x="6683216" y="5661184"/>
            <a:ext cx="476250" cy="22860"/>
          </a:xfrm>
          <a:prstGeom prst="roundRect">
            <a:avLst>
              <a:gd name="adj" fmla="val 104186"/>
            </a:avLst>
          </a:prstGeom>
          <a:solidFill>
            <a:srgbClr val="65696B"/>
          </a:solidFill>
          <a:ln/>
        </p:spPr>
      </p:sp>
      <p:sp>
        <p:nvSpPr>
          <p:cNvPr id="28" name="Shape 26"/>
          <p:cNvSpPr/>
          <p:nvPr/>
        </p:nvSpPr>
        <p:spPr>
          <a:xfrm>
            <a:off x="7136606" y="5494020"/>
            <a:ext cx="357188" cy="357188"/>
          </a:xfrm>
          <a:prstGeom prst="roundRect">
            <a:avLst>
              <a:gd name="adj" fmla="val 6668"/>
            </a:avLst>
          </a:prstGeom>
          <a:solidFill>
            <a:srgbClr val="4C5052"/>
          </a:solidFill>
          <a:ln/>
        </p:spPr>
      </p:sp>
      <p:sp>
        <p:nvSpPr>
          <p:cNvPr id="29" name="Text 27"/>
          <p:cNvSpPr/>
          <p:nvPr/>
        </p:nvSpPr>
        <p:spPr>
          <a:xfrm>
            <a:off x="7196137" y="5523786"/>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D6D9D7"/>
                </a:solidFill>
                <a:latin typeface="DM Sans Medium" pitchFamily="34" charset="0"/>
                <a:ea typeface="DM Sans Medium" pitchFamily="34" charset="-122"/>
                <a:cs typeface="DM Sans Medium" pitchFamily="34" charset="-120"/>
              </a:rPr>
              <a:t>5</a:t>
            </a:r>
            <a:endParaRPr lang="en-US" sz="1850" dirty="0"/>
          </a:p>
        </p:txBody>
      </p:sp>
      <p:sp>
        <p:nvSpPr>
          <p:cNvPr id="30" name="Text 28"/>
          <p:cNvSpPr/>
          <p:nvPr/>
        </p:nvSpPr>
        <p:spPr>
          <a:xfrm>
            <a:off x="2623661" y="5548551"/>
            <a:ext cx="3897749" cy="248007"/>
          </a:xfrm>
          <a:prstGeom prst="rect">
            <a:avLst/>
          </a:prstGeom>
          <a:noFill/>
          <a:ln/>
        </p:spPr>
        <p:txBody>
          <a:bodyPr wrap="none" lIns="0" tIns="0" rIns="0" bIns="0" rtlCol="0" anchor="t"/>
          <a:lstStyle/>
          <a:p>
            <a:pPr marL="0" indent="0" algn="r">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Phase 5: Incident Response (Weeks 15-18)</a:t>
            </a:r>
            <a:endParaRPr lang="en-US" sz="1550" dirty="0"/>
          </a:p>
        </p:txBody>
      </p:sp>
      <p:sp>
        <p:nvSpPr>
          <p:cNvPr id="31" name="Text 29"/>
          <p:cNvSpPr/>
          <p:nvPr/>
        </p:nvSpPr>
        <p:spPr>
          <a:xfrm>
            <a:off x="793790" y="5872758"/>
            <a:ext cx="5727621" cy="685800"/>
          </a:xfrm>
          <a:prstGeom prst="rect">
            <a:avLst/>
          </a:prstGeom>
          <a:noFill/>
          <a:ln/>
        </p:spPr>
        <p:txBody>
          <a:bodyPr wrap="square" lIns="0" tIns="0" rIns="0" bIns="0" rtlCol="0" anchor="t"/>
          <a:lstStyle/>
          <a:p>
            <a:pPr marL="0" indent="0" algn="r">
              <a:lnSpc>
                <a:spcPts val="1800"/>
              </a:lnSpc>
              <a:buNone/>
            </a:pPr>
            <a:r>
              <a:rPr lang="en-US" sz="1250" dirty="0">
                <a:solidFill>
                  <a:srgbClr val="D6D9D7"/>
                </a:solidFill>
                <a:latin typeface="Inter" pitchFamily="34" charset="0"/>
                <a:ea typeface="Inter" pitchFamily="34" charset="-122"/>
                <a:cs typeface="Inter" pitchFamily="34" charset="-120"/>
              </a:rPr>
              <a:t>Understand incident lifecycle, containment strategies, evidence preservation. L1 role: Initial detection and escalation, not full response—but you must know the bigger picture.</a:t>
            </a:r>
            <a:endParaRPr lang="en-US" sz="1250" dirty="0"/>
          </a:p>
        </p:txBody>
      </p:sp>
      <p:sp>
        <p:nvSpPr>
          <p:cNvPr id="32" name="Shape 30"/>
          <p:cNvSpPr/>
          <p:nvPr/>
        </p:nvSpPr>
        <p:spPr>
          <a:xfrm>
            <a:off x="7470934" y="6450568"/>
            <a:ext cx="476250" cy="22860"/>
          </a:xfrm>
          <a:prstGeom prst="roundRect">
            <a:avLst>
              <a:gd name="adj" fmla="val 104186"/>
            </a:avLst>
          </a:prstGeom>
          <a:solidFill>
            <a:srgbClr val="65696B"/>
          </a:solidFill>
          <a:ln/>
        </p:spPr>
      </p:sp>
      <p:sp>
        <p:nvSpPr>
          <p:cNvPr id="33" name="Shape 31"/>
          <p:cNvSpPr/>
          <p:nvPr/>
        </p:nvSpPr>
        <p:spPr>
          <a:xfrm>
            <a:off x="7136606" y="6283404"/>
            <a:ext cx="357188" cy="357188"/>
          </a:xfrm>
          <a:prstGeom prst="roundRect">
            <a:avLst>
              <a:gd name="adj" fmla="val 6668"/>
            </a:avLst>
          </a:prstGeom>
          <a:solidFill>
            <a:srgbClr val="4C5052"/>
          </a:solidFill>
          <a:ln/>
        </p:spPr>
      </p:sp>
      <p:sp>
        <p:nvSpPr>
          <p:cNvPr id="34" name="Text 32"/>
          <p:cNvSpPr/>
          <p:nvPr/>
        </p:nvSpPr>
        <p:spPr>
          <a:xfrm>
            <a:off x="7196137" y="6313170"/>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D6D9D7"/>
                </a:solidFill>
                <a:latin typeface="DM Sans Medium" pitchFamily="34" charset="0"/>
                <a:ea typeface="DM Sans Medium" pitchFamily="34" charset="-122"/>
                <a:cs typeface="DM Sans Medium" pitchFamily="34" charset="-120"/>
              </a:rPr>
              <a:t>6</a:t>
            </a:r>
            <a:endParaRPr lang="en-US" sz="1850" dirty="0"/>
          </a:p>
        </p:txBody>
      </p:sp>
      <p:sp>
        <p:nvSpPr>
          <p:cNvPr id="35" name="Text 33"/>
          <p:cNvSpPr/>
          <p:nvPr/>
        </p:nvSpPr>
        <p:spPr>
          <a:xfrm>
            <a:off x="8108990" y="6337935"/>
            <a:ext cx="3570446" cy="248007"/>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Phase 6: Interview Prep (Weeks 19-24)</a:t>
            </a:r>
            <a:endParaRPr lang="en-US" sz="1550" dirty="0"/>
          </a:p>
        </p:txBody>
      </p:sp>
      <p:sp>
        <p:nvSpPr>
          <p:cNvPr id="36" name="Text 34"/>
          <p:cNvSpPr/>
          <p:nvPr/>
        </p:nvSpPr>
        <p:spPr>
          <a:xfrm>
            <a:off x="8108990" y="6662142"/>
            <a:ext cx="5727621" cy="6858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Practice technical questions, scenario walkthroughs, behavioural responses. Focus: Demonstrate thinking process, not just memorized answers. Interviewers judge decision-making under pressure.</a:t>
            </a:r>
            <a:endParaRPr lang="en-US" sz="1250" dirty="0"/>
          </a:p>
        </p:txBody>
      </p:sp>
      <p:sp>
        <p:nvSpPr>
          <p:cNvPr id="37" name="TextBox 36">
            <a:extLst>
              <a:ext uri="{FF2B5EF4-FFF2-40B4-BE49-F238E27FC236}">
                <a16:creationId xmlns:a16="http://schemas.microsoft.com/office/drawing/2014/main" id="{4F0A89E8-583D-7DB4-6524-ED2B2DFD2370}"/>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38" name="Picture 37">
            <a:extLst>
              <a:ext uri="{FF2B5EF4-FFF2-40B4-BE49-F238E27FC236}">
                <a16:creationId xmlns:a16="http://schemas.microsoft.com/office/drawing/2014/main" id="{32431D60-8228-773C-C111-41778FAD90A5}"/>
              </a:ext>
            </a:extLst>
          </p:cNvPr>
          <p:cNvPicPr>
            <a:picLocks noChangeAspect="1"/>
          </p:cNvPicPr>
          <p:nvPr/>
        </p:nvPicPr>
        <p:blipFill>
          <a:blip r:embed="rId3"/>
          <a:stretch>
            <a:fillRect/>
          </a:stretch>
        </p:blipFill>
        <p:spPr>
          <a:xfrm>
            <a:off x="12819602" y="269203"/>
            <a:ext cx="1267537" cy="126753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793790" y="1100257"/>
            <a:ext cx="8157567" cy="527090"/>
          </a:xfrm>
          <a:prstGeom prst="rect">
            <a:avLst/>
          </a:prstGeom>
          <a:noFill/>
          <a:ln/>
        </p:spPr>
        <p:txBody>
          <a:bodyPr wrap="none" lIns="0" tIns="0" rIns="0" bIns="0" rtlCol="0" anchor="t"/>
          <a:lstStyle/>
          <a:p>
            <a:pPr marL="0" indent="0" algn="l">
              <a:lnSpc>
                <a:spcPts val="4150"/>
              </a:lnSpc>
              <a:buNone/>
            </a:pPr>
            <a:r>
              <a:rPr lang="en-US" sz="3300" dirty="0">
                <a:solidFill>
                  <a:srgbClr val="F7F7F8"/>
                </a:solidFill>
                <a:latin typeface="DM Sans Medium" pitchFamily="34" charset="0"/>
                <a:ea typeface="DM Sans Medium" pitchFamily="34" charset="-122"/>
                <a:cs typeface="DM Sans Medium" pitchFamily="34" charset="-120"/>
              </a:rPr>
              <a:t>Attack Scenarios: Defender's Perspective</a:t>
            </a:r>
            <a:endParaRPr lang="en-US" sz="3300" dirty="0"/>
          </a:p>
        </p:txBody>
      </p:sp>
      <p:sp>
        <p:nvSpPr>
          <p:cNvPr id="5" name="Text 3"/>
          <p:cNvSpPr/>
          <p:nvPr/>
        </p:nvSpPr>
        <p:spPr>
          <a:xfrm>
            <a:off x="793790" y="1842373"/>
            <a:ext cx="13042821" cy="499348"/>
          </a:xfrm>
          <a:prstGeom prst="rect">
            <a:avLst/>
          </a:prstGeom>
          <a:noFill/>
          <a:ln/>
        </p:spPr>
        <p:txBody>
          <a:bodyPr wrap="square" lIns="0" tIns="0" rIns="0" bIns="0" rtlCol="0" anchor="t"/>
          <a:lstStyle/>
          <a:p>
            <a:pPr marL="0" indent="0" algn="l">
              <a:lnSpc>
                <a:spcPts val="1950"/>
              </a:lnSpc>
              <a:buNone/>
            </a:pPr>
            <a:r>
              <a:rPr lang="en-US" sz="1300" dirty="0">
                <a:solidFill>
                  <a:srgbClr val="D6D9D7"/>
                </a:solidFill>
                <a:latin typeface="Inter" pitchFamily="34" charset="0"/>
                <a:ea typeface="Inter" pitchFamily="34" charset="-122"/>
                <a:cs typeface="Inter" pitchFamily="34" charset="-120"/>
              </a:rPr>
              <a:t>Understanding attacks from the SOC analyst viewpoint means focusing on detection, not exploitation. For each attack type, you need to know: what logs appear, which alerts fire, and your immediate response steps. Here are the most critical attack patterns you'll encounter on shift.</a:t>
            </a:r>
            <a:endParaRPr lang="en-US" sz="1300" dirty="0"/>
          </a:p>
        </p:txBody>
      </p:sp>
      <p:sp>
        <p:nvSpPr>
          <p:cNvPr id="6" name="Shape 4"/>
          <p:cNvSpPr/>
          <p:nvPr/>
        </p:nvSpPr>
        <p:spPr>
          <a:xfrm>
            <a:off x="793790" y="2502932"/>
            <a:ext cx="6449735" cy="2420660"/>
          </a:xfrm>
          <a:prstGeom prst="roundRect">
            <a:avLst>
              <a:gd name="adj" fmla="val 1045"/>
            </a:avLst>
          </a:prstGeom>
          <a:solidFill>
            <a:srgbClr val="4C5052"/>
          </a:solidFill>
          <a:ln/>
        </p:spPr>
      </p:sp>
      <p:sp>
        <p:nvSpPr>
          <p:cNvPr id="7" name="Shape 5"/>
          <p:cNvSpPr/>
          <p:nvPr/>
        </p:nvSpPr>
        <p:spPr>
          <a:xfrm>
            <a:off x="962382" y="2671524"/>
            <a:ext cx="506016" cy="506016"/>
          </a:xfrm>
          <a:prstGeom prst="roundRect">
            <a:avLst>
              <a:gd name="adj" fmla="val 18068768"/>
            </a:avLst>
          </a:prstGeom>
          <a:solidFill>
            <a:srgbClr val="AC9EF5"/>
          </a:solidFill>
          <a:ln/>
        </p:spPr>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1566" y="2810589"/>
            <a:ext cx="227647" cy="227648"/>
          </a:xfrm>
          <a:prstGeom prst="rect">
            <a:avLst/>
          </a:prstGeom>
        </p:spPr>
      </p:pic>
      <p:sp>
        <p:nvSpPr>
          <p:cNvPr id="9" name="Text 6"/>
          <p:cNvSpPr/>
          <p:nvPr/>
        </p:nvSpPr>
        <p:spPr>
          <a:xfrm>
            <a:off x="962382" y="3320891"/>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D6D9D7"/>
                </a:solidFill>
                <a:latin typeface="DM Sans Medium" pitchFamily="34" charset="0"/>
                <a:ea typeface="DM Sans Medium" pitchFamily="34" charset="-122"/>
                <a:cs typeface="DM Sans Medium" pitchFamily="34" charset="-120"/>
              </a:rPr>
              <a:t>Phishing Attack</a:t>
            </a:r>
            <a:endParaRPr lang="en-US" sz="1650" dirty="0"/>
          </a:p>
        </p:txBody>
      </p:sp>
      <p:sp>
        <p:nvSpPr>
          <p:cNvPr id="10" name="Text 7"/>
          <p:cNvSpPr/>
          <p:nvPr/>
        </p:nvSpPr>
        <p:spPr>
          <a:xfrm>
            <a:off x="962382" y="3670340"/>
            <a:ext cx="6112550" cy="499348"/>
          </a:xfrm>
          <a:prstGeom prst="rect">
            <a:avLst/>
          </a:prstGeom>
          <a:noFill/>
          <a:ln/>
        </p:spPr>
        <p:txBody>
          <a:bodyPr wrap="square" lIns="0" tIns="0" rIns="0" bIns="0" rtlCol="0" anchor="t"/>
          <a:lstStyle/>
          <a:p>
            <a:pPr marL="0" indent="0" algn="l">
              <a:lnSpc>
                <a:spcPts val="1950"/>
              </a:lnSpc>
              <a:buNone/>
            </a:pPr>
            <a:r>
              <a:rPr lang="en-US" sz="1300" b="1" dirty="0">
                <a:solidFill>
                  <a:srgbClr val="D6D9D7"/>
                </a:solidFill>
                <a:latin typeface="Inter" pitchFamily="34" charset="0"/>
                <a:ea typeface="Inter" pitchFamily="34" charset="-122"/>
                <a:cs typeface="Inter" pitchFamily="34" charset="-120"/>
              </a:rPr>
              <a:t>What SOC sees:</a:t>
            </a:r>
            <a:r>
              <a:rPr lang="en-US" sz="1300" dirty="0">
                <a:solidFill>
                  <a:srgbClr val="D6D9D7"/>
                </a:solidFill>
                <a:latin typeface="Inter" pitchFamily="34" charset="0"/>
                <a:ea typeface="Inter" pitchFamily="34" charset="-122"/>
                <a:cs typeface="Inter" pitchFamily="34" charset="-120"/>
              </a:rPr>
              <a:t> Email gateway alerts, user clicking suspicious link, outbound connection to newly registered domain</a:t>
            </a:r>
            <a:endParaRPr lang="en-US" sz="1300" dirty="0"/>
          </a:p>
        </p:txBody>
      </p:sp>
      <p:sp>
        <p:nvSpPr>
          <p:cNvPr id="11" name="Text 8"/>
          <p:cNvSpPr/>
          <p:nvPr/>
        </p:nvSpPr>
        <p:spPr>
          <a:xfrm>
            <a:off x="962382" y="4255651"/>
            <a:ext cx="6112550" cy="499348"/>
          </a:xfrm>
          <a:prstGeom prst="rect">
            <a:avLst/>
          </a:prstGeom>
          <a:noFill/>
          <a:ln/>
        </p:spPr>
        <p:txBody>
          <a:bodyPr wrap="square" lIns="0" tIns="0" rIns="0" bIns="0" rtlCol="0" anchor="t"/>
          <a:lstStyle/>
          <a:p>
            <a:pPr marL="0" indent="0" algn="l">
              <a:lnSpc>
                <a:spcPts val="1950"/>
              </a:lnSpc>
              <a:buNone/>
            </a:pPr>
            <a:r>
              <a:rPr lang="en-US" sz="1300" b="1" dirty="0">
                <a:solidFill>
                  <a:srgbClr val="D6D9D7"/>
                </a:solidFill>
                <a:latin typeface="Inter" pitchFamily="34" charset="0"/>
                <a:ea typeface="Inter" pitchFamily="34" charset="-122"/>
                <a:cs typeface="Inter" pitchFamily="34" charset="-120"/>
              </a:rPr>
              <a:t>L1 action:</a:t>
            </a:r>
            <a:r>
              <a:rPr lang="en-US" sz="1300" dirty="0">
                <a:solidFill>
                  <a:srgbClr val="D6D9D7"/>
                </a:solidFill>
                <a:latin typeface="Inter" pitchFamily="34" charset="0"/>
                <a:ea typeface="Inter" pitchFamily="34" charset="-122"/>
                <a:cs typeface="Inter" pitchFamily="34" charset="-120"/>
              </a:rPr>
              <a:t> Check email headers, verify domain reputation, isolate user endpoint if compromise suspected</a:t>
            </a:r>
            <a:endParaRPr lang="en-US" sz="1300" dirty="0"/>
          </a:p>
        </p:txBody>
      </p:sp>
      <p:sp>
        <p:nvSpPr>
          <p:cNvPr id="12" name="Shape 9"/>
          <p:cNvSpPr/>
          <p:nvPr/>
        </p:nvSpPr>
        <p:spPr>
          <a:xfrm>
            <a:off x="7386876" y="2502932"/>
            <a:ext cx="6449735" cy="2420660"/>
          </a:xfrm>
          <a:prstGeom prst="roundRect">
            <a:avLst>
              <a:gd name="adj" fmla="val 1045"/>
            </a:avLst>
          </a:prstGeom>
          <a:solidFill>
            <a:srgbClr val="4C5052"/>
          </a:solidFill>
          <a:ln/>
        </p:spPr>
      </p:sp>
      <p:sp>
        <p:nvSpPr>
          <p:cNvPr id="13" name="Shape 10"/>
          <p:cNvSpPr/>
          <p:nvPr/>
        </p:nvSpPr>
        <p:spPr>
          <a:xfrm>
            <a:off x="7555468" y="2671524"/>
            <a:ext cx="506016" cy="506016"/>
          </a:xfrm>
          <a:prstGeom prst="roundRect">
            <a:avLst>
              <a:gd name="adj" fmla="val 18068768"/>
            </a:avLst>
          </a:prstGeom>
          <a:solidFill>
            <a:srgbClr val="AC9EF5"/>
          </a:solidFill>
          <a:ln/>
        </p:spPr>
      </p:sp>
      <p:pic>
        <p:nvPicPr>
          <p:cNvPr id="1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94652" y="2810589"/>
            <a:ext cx="227647" cy="227648"/>
          </a:xfrm>
          <a:prstGeom prst="rect">
            <a:avLst/>
          </a:prstGeom>
        </p:spPr>
      </p:pic>
      <p:sp>
        <p:nvSpPr>
          <p:cNvPr id="15" name="Text 11"/>
          <p:cNvSpPr/>
          <p:nvPr/>
        </p:nvSpPr>
        <p:spPr>
          <a:xfrm>
            <a:off x="7555468" y="3320891"/>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D6D9D7"/>
                </a:solidFill>
                <a:latin typeface="DM Sans Medium" pitchFamily="34" charset="0"/>
                <a:ea typeface="DM Sans Medium" pitchFamily="34" charset="-122"/>
                <a:cs typeface="DM Sans Medium" pitchFamily="34" charset="-120"/>
              </a:rPr>
              <a:t>Malware Execution</a:t>
            </a:r>
            <a:endParaRPr lang="en-US" sz="1650" dirty="0"/>
          </a:p>
        </p:txBody>
      </p:sp>
      <p:sp>
        <p:nvSpPr>
          <p:cNvPr id="16" name="Text 12"/>
          <p:cNvSpPr/>
          <p:nvPr/>
        </p:nvSpPr>
        <p:spPr>
          <a:xfrm>
            <a:off x="7555468" y="3670340"/>
            <a:ext cx="6112550" cy="499348"/>
          </a:xfrm>
          <a:prstGeom prst="rect">
            <a:avLst/>
          </a:prstGeom>
          <a:noFill/>
          <a:ln/>
        </p:spPr>
        <p:txBody>
          <a:bodyPr wrap="square" lIns="0" tIns="0" rIns="0" bIns="0" rtlCol="0" anchor="t"/>
          <a:lstStyle/>
          <a:p>
            <a:pPr marL="0" indent="0" algn="l">
              <a:lnSpc>
                <a:spcPts val="1950"/>
              </a:lnSpc>
              <a:buNone/>
            </a:pPr>
            <a:r>
              <a:rPr lang="en-US" sz="1300" b="1" dirty="0">
                <a:solidFill>
                  <a:srgbClr val="D6D9D7"/>
                </a:solidFill>
                <a:latin typeface="Inter" pitchFamily="34" charset="0"/>
                <a:ea typeface="Inter" pitchFamily="34" charset="-122"/>
                <a:cs typeface="Inter" pitchFamily="34" charset="-120"/>
              </a:rPr>
              <a:t>What SOC sees:</a:t>
            </a:r>
            <a:r>
              <a:rPr lang="en-US" sz="1300" dirty="0">
                <a:solidFill>
                  <a:srgbClr val="D6D9D7"/>
                </a:solidFill>
                <a:latin typeface="Inter" pitchFamily="34" charset="0"/>
                <a:ea typeface="Inter" pitchFamily="34" charset="-122"/>
                <a:cs typeface="Inter" pitchFamily="34" charset="-120"/>
              </a:rPr>
              <a:t> EDR alert on suspicious process, unsigned executable, outbound beacon to C2 server</a:t>
            </a:r>
            <a:endParaRPr lang="en-US" sz="1300" dirty="0"/>
          </a:p>
        </p:txBody>
      </p:sp>
      <p:sp>
        <p:nvSpPr>
          <p:cNvPr id="17" name="Text 13"/>
          <p:cNvSpPr/>
          <p:nvPr/>
        </p:nvSpPr>
        <p:spPr>
          <a:xfrm>
            <a:off x="7555468" y="4255651"/>
            <a:ext cx="6112550" cy="499348"/>
          </a:xfrm>
          <a:prstGeom prst="rect">
            <a:avLst/>
          </a:prstGeom>
          <a:noFill/>
          <a:ln/>
        </p:spPr>
        <p:txBody>
          <a:bodyPr wrap="square" lIns="0" tIns="0" rIns="0" bIns="0" rtlCol="0" anchor="t"/>
          <a:lstStyle/>
          <a:p>
            <a:pPr marL="0" indent="0" algn="l">
              <a:lnSpc>
                <a:spcPts val="1950"/>
              </a:lnSpc>
              <a:buNone/>
            </a:pPr>
            <a:r>
              <a:rPr lang="en-US" sz="1300" b="1" dirty="0">
                <a:solidFill>
                  <a:srgbClr val="D6D9D7"/>
                </a:solidFill>
                <a:latin typeface="Inter" pitchFamily="34" charset="0"/>
                <a:ea typeface="Inter" pitchFamily="34" charset="-122"/>
                <a:cs typeface="Inter" pitchFamily="34" charset="-120"/>
              </a:rPr>
              <a:t>L1 action:</a:t>
            </a:r>
            <a:r>
              <a:rPr lang="en-US" sz="1300" dirty="0">
                <a:solidFill>
                  <a:srgbClr val="D6D9D7"/>
                </a:solidFill>
                <a:latin typeface="Inter" pitchFamily="34" charset="0"/>
                <a:ea typeface="Inter" pitchFamily="34" charset="-122"/>
                <a:cs typeface="Inter" pitchFamily="34" charset="-120"/>
              </a:rPr>
              <a:t> Quarantine file, check VirusTotal hash, document IOCs, escalate for forensics</a:t>
            </a:r>
            <a:endParaRPr lang="en-US" sz="1300" dirty="0"/>
          </a:p>
        </p:txBody>
      </p:sp>
      <p:sp>
        <p:nvSpPr>
          <p:cNvPr id="18" name="Shape 14"/>
          <p:cNvSpPr/>
          <p:nvPr/>
        </p:nvSpPr>
        <p:spPr>
          <a:xfrm>
            <a:off x="793790" y="5066943"/>
            <a:ext cx="6449735" cy="2420660"/>
          </a:xfrm>
          <a:prstGeom prst="roundRect">
            <a:avLst>
              <a:gd name="adj" fmla="val 1045"/>
            </a:avLst>
          </a:prstGeom>
          <a:solidFill>
            <a:srgbClr val="4C5052"/>
          </a:solidFill>
          <a:ln/>
        </p:spPr>
      </p:sp>
      <p:sp>
        <p:nvSpPr>
          <p:cNvPr id="19" name="Shape 15"/>
          <p:cNvSpPr/>
          <p:nvPr/>
        </p:nvSpPr>
        <p:spPr>
          <a:xfrm>
            <a:off x="962382" y="5235535"/>
            <a:ext cx="506016" cy="506016"/>
          </a:xfrm>
          <a:prstGeom prst="roundRect">
            <a:avLst>
              <a:gd name="adj" fmla="val 18068768"/>
            </a:avLst>
          </a:prstGeom>
          <a:solidFill>
            <a:srgbClr val="AC9EF5"/>
          </a:solidFill>
          <a:ln/>
        </p:spPr>
      </p:sp>
      <p:pic>
        <p:nvPicPr>
          <p:cNvPr id="2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1566" y="5374600"/>
            <a:ext cx="227647" cy="227648"/>
          </a:xfrm>
          <a:prstGeom prst="rect">
            <a:avLst/>
          </a:prstGeom>
        </p:spPr>
      </p:pic>
      <p:sp>
        <p:nvSpPr>
          <p:cNvPr id="21" name="Text 16"/>
          <p:cNvSpPr/>
          <p:nvPr/>
        </p:nvSpPr>
        <p:spPr>
          <a:xfrm>
            <a:off x="962382" y="5884902"/>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D6D9D7"/>
                </a:solidFill>
                <a:latin typeface="DM Sans Medium" pitchFamily="34" charset="0"/>
                <a:ea typeface="DM Sans Medium" pitchFamily="34" charset="-122"/>
                <a:cs typeface="DM Sans Medium" pitchFamily="34" charset="-120"/>
              </a:rPr>
              <a:t>Ransomware</a:t>
            </a:r>
            <a:endParaRPr lang="en-US" sz="1650" dirty="0"/>
          </a:p>
        </p:txBody>
      </p:sp>
      <p:sp>
        <p:nvSpPr>
          <p:cNvPr id="22" name="Text 17"/>
          <p:cNvSpPr/>
          <p:nvPr/>
        </p:nvSpPr>
        <p:spPr>
          <a:xfrm>
            <a:off x="962382" y="6234351"/>
            <a:ext cx="6112550" cy="499348"/>
          </a:xfrm>
          <a:prstGeom prst="rect">
            <a:avLst/>
          </a:prstGeom>
          <a:noFill/>
          <a:ln/>
        </p:spPr>
        <p:txBody>
          <a:bodyPr wrap="square" lIns="0" tIns="0" rIns="0" bIns="0" rtlCol="0" anchor="t"/>
          <a:lstStyle/>
          <a:p>
            <a:pPr marL="0" indent="0" algn="l">
              <a:lnSpc>
                <a:spcPts val="1950"/>
              </a:lnSpc>
              <a:buNone/>
            </a:pPr>
            <a:r>
              <a:rPr lang="en-US" sz="1300" b="1" dirty="0">
                <a:solidFill>
                  <a:srgbClr val="D6D9D7"/>
                </a:solidFill>
                <a:latin typeface="Inter" pitchFamily="34" charset="0"/>
                <a:ea typeface="Inter" pitchFamily="34" charset="-122"/>
                <a:cs typeface="Inter" pitchFamily="34" charset="-120"/>
              </a:rPr>
              <a:t>What SOC sees:</a:t>
            </a:r>
            <a:r>
              <a:rPr lang="en-US" sz="1300" dirty="0">
                <a:solidFill>
                  <a:srgbClr val="D6D9D7"/>
                </a:solidFill>
                <a:latin typeface="Inter" pitchFamily="34" charset="0"/>
                <a:ea typeface="Inter" pitchFamily="34" charset="-122"/>
                <a:cs typeface="Inter" pitchFamily="34" charset="-120"/>
              </a:rPr>
              <a:t> Mass file encryption, ransom note creation, unusual disk activity, backup deletion attempts</a:t>
            </a:r>
            <a:endParaRPr lang="en-US" sz="1300" dirty="0"/>
          </a:p>
        </p:txBody>
      </p:sp>
      <p:sp>
        <p:nvSpPr>
          <p:cNvPr id="23" name="Text 18"/>
          <p:cNvSpPr/>
          <p:nvPr/>
        </p:nvSpPr>
        <p:spPr>
          <a:xfrm>
            <a:off x="962382" y="6819662"/>
            <a:ext cx="6112550" cy="499348"/>
          </a:xfrm>
          <a:prstGeom prst="rect">
            <a:avLst/>
          </a:prstGeom>
          <a:noFill/>
          <a:ln/>
        </p:spPr>
        <p:txBody>
          <a:bodyPr wrap="square" lIns="0" tIns="0" rIns="0" bIns="0" rtlCol="0" anchor="t"/>
          <a:lstStyle/>
          <a:p>
            <a:pPr marL="0" indent="0" algn="l">
              <a:lnSpc>
                <a:spcPts val="1950"/>
              </a:lnSpc>
              <a:buNone/>
            </a:pPr>
            <a:r>
              <a:rPr lang="en-US" sz="1300" b="1" dirty="0">
                <a:solidFill>
                  <a:srgbClr val="D6D9D7"/>
                </a:solidFill>
                <a:latin typeface="Inter" pitchFamily="34" charset="0"/>
                <a:ea typeface="Inter" pitchFamily="34" charset="-122"/>
                <a:cs typeface="Inter" pitchFamily="34" charset="-120"/>
              </a:rPr>
              <a:t>L1 action:</a:t>
            </a:r>
            <a:r>
              <a:rPr lang="en-US" sz="1300" dirty="0">
                <a:solidFill>
                  <a:srgbClr val="D6D9D7"/>
                </a:solidFill>
                <a:latin typeface="Inter" pitchFamily="34" charset="0"/>
                <a:ea typeface="Inter" pitchFamily="34" charset="-122"/>
                <a:cs typeface="Inter" pitchFamily="34" charset="-120"/>
              </a:rPr>
              <a:t> Immediate escalation—time critical. Isolate affected systems, document timeline, notify IR team</a:t>
            </a:r>
            <a:endParaRPr lang="en-US" sz="1300" dirty="0"/>
          </a:p>
        </p:txBody>
      </p:sp>
      <p:sp>
        <p:nvSpPr>
          <p:cNvPr id="24" name="Shape 19"/>
          <p:cNvSpPr/>
          <p:nvPr/>
        </p:nvSpPr>
        <p:spPr>
          <a:xfrm>
            <a:off x="7386876" y="5066943"/>
            <a:ext cx="6449735" cy="2420660"/>
          </a:xfrm>
          <a:prstGeom prst="roundRect">
            <a:avLst>
              <a:gd name="adj" fmla="val 1045"/>
            </a:avLst>
          </a:prstGeom>
          <a:solidFill>
            <a:srgbClr val="4C5052"/>
          </a:solidFill>
          <a:ln/>
        </p:spPr>
      </p:sp>
      <p:sp>
        <p:nvSpPr>
          <p:cNvPr id="25" name="Shape 20"/>
          <p:cNvSpPr/>
          <p:nvPr/>
        </p:nvSpPr>
        <p:spPr>
          <a:xfrm>
            <a:off x="7555468" y="5235535"/>
            <a:ext cx="506016" cy="506016"/>
          </a:xfrm>
          <a:prstGeom prst="roundRect">
            <a:avLst>
              <a:gd name="adj" fmla="val 18068768"/>
            </a:avLst>
          </a:prstGeom>
          <a:solidFill>
            <a:srgbClr val="AC9EF5"/>
          </a:solidFill>
          <a:ln/>
        </p:spPr>
      </p:sp>
      <p:pic>
        <p:nvPicPr>
          <p:cNvPr id="2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94652" y="5374600"/>
            <a:ext cx="227647" cy="227648"/>
          </a:xfrm>
          <a:prstGeom prst="rect">
            <a:avLst/>
          </a:prstGeom>
        </p:spPr>
      </p:pic>
      <p:sp>
        <p:nvSpPr>
          <p:cNvPr id="27" name="Text 21"/>
          <p:cNvSpPr/>
          <p:nvPr/>
        </p:nvSpPr>
        <p:spPr>
          <a:xfrm>
            <a:off x="7555468" y="5884902"/>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D6D9D7"/>
                </a:solidFill>
                <a:latin typeface="DM Sans Medium" pitchFamily="34" charset="0"/>
                <a:ea typeface="DM Sans Medium" pitchFamily="34" charset="-122"/>
                <a:cs typeface="DM Sans Medium" pitchFamily="34" charset="-120"/>
              </a:rPr>
              <a:t>Brute Force</a:t>
            </a:r>
            <a:endParaRPr lang="en-US" sz="1650" dirty="0"/>
          </a:p>
        </p:txBody>
      </p:sp>
      <p:sp>
        <p:nvSpPr>
          <p:cNvPr id="28" name="Text 22"/>
          <p:cNvSpPr/>
          <p:nvPr/>
        </p:nvSpPr>
        <p:spPr>
          <a:xfrm>
            <a:off x="7555468" y="6234351"/>
            <a:ext cx="6112550" cy="499348"/>
          </a:xfrm>
          <a:prstGeom prst="rect">
            <a:avLst/>
          </a:prstGeom>
          <a:noFill/>
          <a:ln/>
        </p:spPr>
        <p:txBody>
          <a:bodyPr wrap="square" lIns="0" tIns="0" rIns="0" bIns="0" rtlCol="0" anchor="t"/>
          <a:lstStyle/>
          <a:p>
            <a:pPr marL="0" indent="0" algn="l">
              <a:lnSpc>
                <a:spcPts val="1950"/>
              </a:lnSpc>
              <a:buNone/>
            </a:pPr>
            <a:r>
              <a:rPr lang="en-US" sz="1300" b="1" dirty="0">
                <a:solidFill>
                  <a:srgbClr val="D6D9D7"/>
                </a:solidFill>
                <a:latin typeface="Inter" pitchFamily="34" charset="0"/>
                <a:ea typeface="Inter" pitchFamily="34" charset="-122"/>
                <a:cs typeface="Inter" pitchFamily="34" charset="-120"/>
              </a:rPr>
              <a:t>What SOC sees:</a:t>
            </a:r>
            <a:r>
              <a:rPr lang="en-US" sz="1300" dirty="0">
                <a:solidFill>
                  <a:srgbClr val="D6D9D7"/>
                </a:solidFill>
                <a:latin typeface="Inter" pitchFamily="34" charset="0"/>
                <a:ea typeface="Inter" pitchFamily="34" charset="-122"/>
                <a:cs typeface="Inter" pitchFamily="34" charset="-120"/>
              </a:rPr>
              <a:t> Multiple failed login attempts (Event ID 4625), account lockouts, login from unusual locations</a:t>
            </a:r>
            <a:endParaRPr lang="en-US" sz="1300" dirty="0"/>
          </a:p>
        </p:txBody>
      </p:sp>
      <p:sp>
        <p:nvSpPr>
          <p:cNvPr id="29" name="Text 23"/>
          <p:cNvSpPr/>
          <p:nvPr/>
        </p:nvSpPr>
        <p:spPr>
          <a:xfrm>
            <a:off x="7555468" y="6819662"/>
            <a:ext cx="6112550" cy="499348"/>
          </a:xfrm>
          <a:prstGeom prst="rect">
            <a:avLst/>
          </a:prstGeom>
          <a:noFill/>
          <a:ln/>
        </p:spPr>
        <p:txBody>
          <a:bodyPr wrap="square" lIns="0" tIns="0" rIns="0" bIns="0" rtlCol="0" anchor="t"/>
          <a:lstStyle/>
          <a:p>
            <a:pPr marL="0" indent="0" algn="l">
              <a:lnSpc>
                <a:spcPts val="1950"/>
              </a:lnSpc>
              <a:buNone/>
            </a:pPr>
            <a:r>
              <a:rPr lang="en-US" sz="1300" b="1" dirty="0">
                <a:solidFill>
                  <a:srgbClr val="D6D9D7"/>
                </a:solidFill>
                <a:latin typeface="Inter" pitchFamily="34" charset="0"/>
                <a:ea typeface="Inter" pitchFamily="34" charset="-122"/>
                <a:cs typeface="Inter" pitchFamily="34" charset="-120"/>
              </a:rPr>
              <a:t>L1 action:</a:t>
            </a:r>
            <a:r>
              <a:rPr lang="en-US" sz="1300" dirty="0">
                <a:solidFill>
                  <a:srgbClr val="D6D9D7"/>
                </a:solidFill>
                <a:latin typeface="Inter" pitchFamily="34" charset="0"/>
                <a:ea typeface="Inter" pitchFamily="34" charset="-122"/>
                <a:cs typeface="Inter" pitchFamily="34" charset="-120"/>
              </a:rPr>
              <a:t> Verify legitimate user activity, block source IP, check for successful compromise, reset credentials if needed</a:t>
            </a:r>
            <a:endParaRPr lang="en-US" sz="1300" dirty="0"/>
          </a:p>
        </p:txBody>
      </p:sp>
      <p:sp>
        <p:nvSpPr>
          <p:cNvPr id="30" name="TextBox 29">
            <a:extLst>
              <a:ext uri="{FF2B5EF4-FFF2-40B4-BE49-F238E27FC236}">
                <a16:creationId xmlns:a16="http://schemas.microsoft.com/office/drawing/2014/main" id="{CA66AC34-C3DC-9172-2B8D-9C537545ADD8}"/>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31" name="Picture 30">
            <a:extLst>
              <a:ext uri="{FF2B5EF4-FFF2-40B4-BE49-F238E27FC236}">
                <a16:creationId xmlns:a16="http://schemas.microsoft.com/office/drawing/2014/main" id="{5D90B44C-37B5-D40D-43C7-5BDE0FEF97F3}"/>
              </a:ext>
            </a:extLst>
          </p:cNvPr>
          <p:cNvPicPr>
            <a:picLocks noChangeAspect="1"/>
          </p:cNvPicPr>
          <p:nvPr/>
        </p:nvPicPr>
        <p:blipFill>
          <a:blip r:embed="rId11"/>
          <a:stretch>
            <a:fillRect/>
          </a:stretch>
        </p:blipFill>
        <p:spPr>
          <a:xfrm>
            <a:off x="12819602" y="269203"/>
            <a:ext cx="1267537" cy="12675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793790" y="1083707"/>
            <a:ext cx="8038624" cy="465177"/>
          </a:xfrm>
          <a:prstGeom prst="rect">
            <a:avLst/>
          </a:prstGeom>
          <a:noFill/>
          <a:ln/>
        </p:spPr>
        <p:txBody>
          <a:bodyPr wrap="none" lIns="0" tIns="0" rIns="0" bIns="0" rtlCol="0" anchor="t"/>
          <a:lstStyle/>
          <a:p>
            <a:pPr marL="0" indent="0" algn="l">
              <a:lnSpc>
                <a:spcPts val="3650"/>
              </a:lnSpc>
              <a:buNone/>
            </a:pPr>
            <a:r>
              <a:rPr lang="en-US" sz="2900" dirty="0">
                <a:solidFill>
                  <a:srgbClr val="F7F7F8"/>
                </a:solidFill>
                <a:latin typeface="DM Sans Medium" pitchFamily="34" charset="0"/>
                <a:ea typeface="DM Sans Medium" pitchFamily="34" charset="-122"/>
                <a:cs typeface="DM Sans Medium" pitchFamily="34" charset="-120"/>
              </a:rPr>
              <a:t>Alert Triage: Your Decision-Making Framework</a:t>
            </a:r>
            <a:endParaRPr lang="en-US" sz="2900" dirty="0"/>
          </a:p>
        </p:txBody>
      </p:sp>
      <p:sp>
        <p:nvSpPr>
          <p:cNvPr id="5" name="Text 3"/>
          <p:cNvSpPr/>
          <p:nvPr/>
        </p:nvSpPr>
        <p:spPr>
          <a:xfrm>
            <a:off x="793790" y="1716286"/>
            <a:ext cx="13042821" cy="416719"/>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Every SOC shift presents dozens or hundreds of alerts. Your skill lies in rapidly determining which require escalation and which are false positives. This systematic approach ensures you never miss real threats whilst avoiding alert fatigue. Follow this framework for every single alert.</a:t>
            </a:r>
            <a:endParaRPr lang="en-US" sz="1150" dirty="0"/>
          </a:p>
        </p:txBody>
      </p:sp>
      <p:pic>
        <p:nvPicPr>
          <p:cNvPr id="6" name="Image 0" descr="preencoded.png"/>
          <p:cNvPicPr>
            <a:picLocks noChangeAspect="1"/>
          </p:cNvPicPr>
          <p:nvPr/>
        </p:nvPicPr>
        <p:blipFill>
          <a:blip r:embed="rId3"/>
          <a:stretch>
            <a:fillRect/>
          </a:stretch>
        </p:blipFill>
        <p:spPr>
          <a:xfrm>
            <a:off x="793790" y="2258497"/>
            <a:ext cx="6521410" cy="595313"/>
          </a:xfrm>
          <a:prstGeom prst="rect">
            <a:avLst/>
          </a:prstGeom>
        </p:spPr>
      </p:pic>
      <p:sp>
        <p:nvSpPr>
          <p:cNvPr id="7" name="Text 4"/>
          <p:cNvSpPr/>
          <p:nvPr/>
        </p:nvSpPr>
        <p:spPr>
          <a:xfrm>
            <a:off x="942618" y="2965371"/>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1. Initial Assessment</a:t>
            </a:r>
            <a:endParaRPr lang="en-US" sz="1450" dirty="0"/>
          </a:p>
        </p:txBody>
      </p:sp>
      <p:sp>
        <p:nvSpPr>
          <p:cNvPr id="8" name="Text 5"/>
          <p:cNvSpPr/>
          <p:nvPr/>
        </p:nvSpPr>
        <p:spPr>
          <a:xfrm>
            <a:off x="942618" y="3264813"/>
            <a:ext cx="6223754" cy="416719"/>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Read alert description, check severity rating, note affected asset. Quick context: Is this a critical server or user workstation? Business hours or 3AM?</a:t>
            </a:r>
            <a:endParaRPr lang="en-US" sz="1150" dirty="0"/>
          </a:p>
        </p:txBody>
      </p:sp>
      <p:pic>
        <p:nvPicPr>
          <p:cNvPr id="9" name="Image 1" descr="preencoded.png"/>
          <p:cNvPicPr>
            <a:picLocks noChangeAspect="1"/>
          </p:cNvPicPr>
          <p:nvPr/>
        </p:nvPicPr>
        <p:blipFill>
          <a:blip r:embed="rId4"/>
          <a:stretch>
            <a:fillRect/>
          </a:stretch>
        </p:blipFill>
        <p:spPr>
          <a:xfrm>
            <a:off x="7315200" y="2258497"/>
            <a:ext cx="6521410" cy="595313"/>
          </a:xfrm>
          <a:prstGeom prst="rect">
            <a:avLst/>
          </a:prstGeom>
        </p:spPr>
      </p:pic>
      <p:sp>
        <p:nvSpPr>
          <p:cNvPr id="10" name="Text 6"/>
          <p:cNvSpPr/>
          <p:nvPr/>
        </p:nvSpPr>
        <p:spPr>
          <a:xfrm>
            <a:off x="7464028" y="2965371"/>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2. Log Analysis</a:t>
            </a:r>
            <a:endParaRPr lang="en-US" sz="1450" dirty="0"/>
          </a:p>
        </p:txBody>
      </p:sp>
      <p:sp>
        <p:nvSpPr>
          <p:cNvPr id="11" name="Text 7"/>
          <p:cNvSpPr/>
          <p:nvPr/>
        </p:nvSpPr>
        <p:spPr>
          <a:xfrm>
            <a:off x="7464028" y="3264813"/>
            <a:ext cx="6223754" cy="416719"/>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Query SIEM for related logs. Check 30 minutes before and after alert. Look for: source IP, destination, user account, process details, frequency.</a:t>
            </a:r>
            <a:endParaRPr lang="en-US" sz="1150" dirty="0"/>
          </a:p>
        </p:txBody>
      </p:sp>
      <p:pic>
        <p:nvPicPr>
          <p:cNvPr id="12" name="Image 2" descr="preencoded.png"/>
          <p:cNvPicPr>
            <a:picLocks noChangeAspect="1"/>
          </p:cNvPicPr>
          <p:nvPr/>
        </p:nvPicPr>
        <p:blipFill>
          <a:blip r:embed="rId5"/>
          <a:stretch>
            <a:fillRect/>
          </a:stretch>
        </p:blipFill>
        <p:spPr>
          <a:xfrm>
            <a:off x="793790" y="3830360"/>
            <a:ext cx="6521410" cy="595313"/>
          </a:xfrm>
          <a:prstGeom prst="rect">
            <a:avLst/>
          </a:prstGeom>
        </p:spPr>
      </p:pic>
      <p:sp>
        <p:nvSpPr>
          <p:cNvPr id="13" name="Text 8"/>
          <p:cNvSpPr/>
          <p:nvPr/>
        </p:nvSpPr>
        <p:spPr>
          <a:xfrm>
            <a:off x="942618" y="4537234"/>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3. Context Gathering</a:t>
            </a:r>
            <a:endParaRPr lang="en-US" sz="1450" dirty="0"/>
          </a:p>
        </p:txBody>
      </p:sp>
      <p:sp>
        <p:nvSpPr>
          <p:cNvPr id="14" name="Text 9"/>
          <p:cNvSpPr/>
          <p:nvPr/>
        </p:nvSpPr>
        <p:spPr>
          <a:xfrm>
            <a:off x="942618" y="4836676"/>
            <a:ext cx="6223754" cy="416719"/>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Is source IP internal or external? Is user account legitimate? Check threat intelligence—known malicious domain/IP? Any similar alerts recently?</a:t>
            </a:r>
            <a:endParaRPr lang="en-US" sz="1150" dirty="0"/>
          </a:p>
        </p:txBody>
      </p:sp>
      <p:pic>
        <p:nvPicPr>
          <p:cNvPr id="15" name="Image 3" descr="preencoded.png"/>
          <p:cNvPicPr>
            <a:picLocks noChangeAspect="1"/>
          </p:cNvPicPr>
          <p:nvPr/>
        </p:nvPicPr>
        <p:blipFill>
          <a:blip r:embed="rId6"/>
          <a:stretch>
            <a:fillRect/>
          </a:stretch>
        </p:blipFill>
        <p:spPr>
          <a:xfrm>
            <a:off x="7315200" y="3830360"/>
            <a:ext cx="6521410" cy="595313"/>
          </a:xfrm>
          <a:prstGeom prst="rect">
            <a:avLst/>
          </a:prstGeom>
        </p:spPr>
      </p:pic>
      <p:sp>
        <p:nvSpPr>
          <p:cNvPr id="16" name="Text 10"/>
          <p:cNvSpPr/>
          <p:nvPr/>
        </p:nvSpPr>
        <p:spPr>
          <a:xfrm>
            <a:off x="7464028" y="4537234"/>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4. Decision</a:t>
            </a:r>
            <a:endParaRPr lang="en-US" sz="1450" dirty="0"/>
          </a:p>
        </p:txBody>
      </p:sp>
      <p:sp>
        <p:nvSpPr>
          <p:cNvPr id="17" name="Text 11"/>
          <p:cNvSpPr/>
          <p:nvPr/>
        </p:nvSpPr>
        <p:spPr>
          <a:xfrm>
            <a:off x="7464028" y="4836676"/>
            <a:ext cx="6223754" cy="416719"/>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True positive? Escalate with documentation. False positive? Close with clear justification. Unsure? Escalate—better safe than compromised.</a:t>
            </a:r>
            <a:endParaRPr lang="en-US" sz="1150" dirty="0"/>
          </a:p>
        </p:txBody>
      </p:sp>
      <p:sp>
        <p:nvSpPr>
          <p:cNvPr id="18" name="Shape 12"/>
          <p:cNvSpPr/>
          <p:nvPr/>
        </p:nvSpPr>
        <p:spPr>
          <a:xfrm>
            <a:off x="793790" y="5602076"/>
            <a:ext cx="13042821" cy="26194"/>
          </a:xfrm>
          <a:prstGeom prst="rect">
            <a:avLst/>
          </a:prstGeom>
          <a:solidFill>
            <a:srgbClr val="D6D9D7">
              <a:alpha val="50000"/>
            </a:srgbClr>
          </a:solidFill>
          <a:ln/>
        </p:spPr>
      </p:sp>
      <p:sp>
        <p:nvSpPr>
          <p:cNvPr id="19" name="Text 13"/>
          <p:cNvSpPr/>
          <p:nvPr/>
        </p:nvSpPr>
        <p:spPr>
          <a:xfrm>
            <a:off x="793790" y="5865257"/>
            <a:ext cx="2042279" cy="232529"/>
          </a:xfrm>
          <a:prstGeom prst="rect">
            <a:avLst/>
          </a:prstGeom>
          <a:noFill/>
          <a:ln/>
        </p:spPr>
        <p:txBody>
          <a:bodyPr wrap="none" lIns="0" tIns="0" rIns="0" bIns="0" rtlCol="0" anchor="t"/>
          <a:lstStyle/>
          <a:p>
            <a:pPr marL="0" indent="0" algn="l">
              <a:lnSpc>
                <a:spcPts val="1800"/>
              </a:lnSpc>
              <a:buNone/>
            </a:pPr>
            <a:r>
              <a:rPr lang="en-US" sz="1450" dirty="0">
                <a:solidFill>
                  <a:srgbClr val="F7F7F8"/>
                </a:solidFill>
                <a:latin typeface="DM Sans Medium" pitchFamily="34" charset="0"/>
                <a:ea typeface="DM Sans Medium" pitchFamily="34" charset="-122"/>
                <a:cs typeface="DM Sans Medium" pitchFamily="34" charset="-120"/>
              </a:rPr>
              <a:t>True Positive Indicators</a:t>
            </a:r>
            <a:endParaRPr lang="en-US" sz="1450" dirty="0"/>
          </a:p>
        </p:txBody>
      </p:sp>
      <p:sp>
        <p:nvSpPr>
          <p:cNvPr id="20" name="Text 14"/>
          <p:cNvSpPr/>
          <p:nvPr/>
        </p:nvSpPr>
        <p:spPr>
          <a:xfrm>
            <a:off x="793790" y="6209347"/>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Connection to known malicious IP/domain</a:t>
            </a:r>
            <a:endParaRPr lang="en-US" sz="1150" dirty="0"/>
          </a:p>
        </p:txBody>
      </p:sp>
      <p:sp>
        <p:nvSpPr>
          <p:cNvPr id="21" name="Text 15"/>
          <p:cNvSpPr/>
          <p:nvPr/>
        </p:nvSpPr>
        <p:spPr>
          <a:xfrm>
            <a:off x="793790" y="6456759"/>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Unusual time of activity (3AM access to finance data)</a:t>
            </a:r>
            <a:endParaRPr lang="en-US" sz="1150" dirty="0"/>
          </a:p>
        </p:txBody>
      </p:sp>
      <p:sp>
        <p:nvSpPr>
          <p:cNvPr id="22" name="Text 16"/>
          <p:cNvSpPr/>
          <p:nvPr/>
        </p:nvSpPr>
        <p:spPr>
          <a:xfrm>
            <a:off x="793790" y="6704171"/>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Privilege escalation attempts</a:t>
            </a:r>
            <a:endParaRPr lang="en-US" sz="1150" dirty="0"/>
          </a:p>
        </p:txBody>
      </p:sp>
      <p:sp>
        <p:nvSpPr>
          <p:cNvPr id="23" name="Text 17"/>
          <p:cNvSpPr/>
          <p:nvPr/>
        </p:nvSpPr>
        <p:spPr>
          <a:xfrm>
            <a:off x="793790" y="6951583"/>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Data exfiltration patterns (large uploads to cloud storage)</a:t>
            </a:r>
            <a:endParaRPr lang="en-US" sz="1150" dirty="0"/>
          </a:p>
        </p:txBody>
      </p:sp>
      <p:sp>
        <p:nvSpPr>
          <p:cNvPr id="24" name="Text 18"/>
          <p:cNvSpPr/>
          <p:nvPr/>
        </p:nvSpPr>
        <p:spPr>
          <a:xfrm>
            <a:off x="793790" y="7198995"/>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Multiple failed logins followed by success</a:t>
            </a:r>
            <a:endParaRPr lang="en-US" sz="1150" dirty="0"/>
          </a:p>
        </p:txBody>
      </p:sp>
      <p:sp>
        <p:nvSpPr>
          <p:cNvPr id="25" name="Text 19"/>
          <p:cNvSpPr/>
          <p:nvPr/>
        </p:nvSpPr>
        <p:spPr>
          <a:xfrm>
            <a:off x="7504390" y="5865257"/>
            <a:ext cx="2121456" cy="232529"/>
          </a:xfrm>
          <a:prstGeom prst="rect">
            <a:avLst/>
          </a:prstGeom>
          <a:noFill/>
          <a:ln/>
        </p:spPr>
        <p:txBody>
          <a:bodyPr wrap="none" lIns="0" tIns="0" rIns="0" bIns="0" rtlCol="0" anchor="t"/>
          <a:lstStyle/>
          <a:p>
            <a:pPr marL="0" indent="0" algn="l">
              <a:lnSpc>
                <a:spcPts val="1800"/>
              </a:lnSpc>
              <a:buNone/>
            </a:pPr>
            <a:r>
              <a:rPr lang="en-US" sz="1450" dirty="0">
                <a:solidFill>
                  <a:srgbClr val="F7F7F8"/>
                </a:solidFill>
                <a:latin typeface="DM Sans Medium" pitchFamily="34" charset="0"/>
                <a:ea typeface="DM Sans Medium" pitchFamily="34" charset="-122"/>
                <a:cs typeface="DM Sans Medium" pitchFamily="34" charset="-120"/>
              </a:rPr>
              <a:t>Common False Positives</a:t>
            </a:r>
            <a:endParaRPr lang="en-US" sz="1450" dirty="0"/>
          </a:p>
        </p:txBody>
      </p:sp>
      <p:sp>
        <p:nvSpPr>
          <p:cNvPr id="26" name="Text 20"/>
          <p:cNvSpPr/>
          <p:nvPr/>
        </p:nvSpPr>
        <p:spPr>
          <a:xfrm>
            <a:off x="7504390" y="6209347"/>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Automated system scans triggering port scan alerts</a:t>
            </a:r>
            <a:endParaRPr lang="en-US" sz="1150" dirty="0"/>
          </a:p>
        </p:txBody>
      </p:sp>
      <p:sp>
        <p:nvSpPr>
          <p:cNvPr id="27" name="Text 21"/>
          <p:cNvSpPr/>
          <p:nvPr/>
        </p:nvSpPr>
        <p:spPr>
          <a:xfrm>
            <a:off x="7504390" y="6456759"/>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Legitimate admin activity flagged as suspicious</a:t>
            </a:r>
            <a:endParaRPr lang="en-US" sz="1150" dirty="0"/>
          </a:p>
        </p:txBody>
      </p:sp>
      <p:sp>
        <p:nvSpPr>
          <p:cNvPr id="28" name="Text 22"/>
          <p:cNvSpPr/>
          <p:nvPr/>
        </p:nvSpPr>
        <p:spPr>
          <a:xfrm>
            <a:off x="7504390" y="6704171"/>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Poorly tuned SIEM rules with low thresholds</a:t>
            </a:r>
            <a:endParaRPr lang="en-US" sz="1150" dirty="0"/>
          </a:p>
        </p:txBody>
      </p:sp>
      <p:sp>
        <p:nvSpPr>
          <p:cNvPr id="29" name="Text 23"/>
          <p:cNvSpPr/>
          <p:nvPr/>
        </p:nvSpPr>
        <p:spPr>
          <a:xfrm>
            <a:off x="7504390" y="6951583"/>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Benign software triggering EDR heuristics</a:t>
            </a:r>
            <a:endParaRPr lang="en-US" sz="1150" dirty="0"/>
          </a:p>
        </p:txBody>
      </p:sp>
      <p:sp>
        <p:nvSpPr>
          <p:cNvPr id="30" name="Text 24"/>
          <p:cNvSpPr/>
          <p:nvPr/>
        </p:nvSpPr>
        <p:spPr>
          <a:xfrm>
            <a:off x="7504390" y="7198995"/>
            <a:ext cx="6339840" cy="208359"/>
          </a:xfrm>
          <a:prstGeom prst="rect">
            <a:avLst/>
          </a:prstGeom>
          <a:noFill/>
          <a:ln/>
        </p:spPr>
        <p:txBody>
          <a:bodyPr wrap="none" lIns="0" tIns="0" rIns="0" bIns="0" rtlCol="0" anchor="t"/>
          <a:lstStyle/>
          <a:p>
            <a:pPr marL="342900" indent="-342900" algn="l">
              <a:lnSpc>
                <a:spcPts val="1600"/>
              </a:lnSpc>
              <a:buSzPct val="100000"/>
              <a:buChar char="•"/>
            </a:pPr>
            <a:r>
              <a:rPr lang="en-US" sz="1150" dirty="0">
                <a:solidFill>
                  <a:srgbClr val="D6D9D7"/>
                </a:solidFill>
                <a:latin typeface="Inter" pitchFamily="34" charset="0"/>
                <a:ea typeface="Inter" pitchFamily="34" charset="-122"/>
                <a:cs typeface="Inter" pitchFamily="34" charset="-120"/>
              </a:rPr>
              <a:t>Scheduled tasks appearing as unusual processes</a:t>
            </a:r>
            <a:endParaRPr lang="en-US" sz="1150" dirty="0"/>
          </a:p>
        </p:txBody>
      </p:sp>
      <p:sp>
        <p:nvSpPr>
          <p:cNvPr id="31" name="TextBox 30">
            <a:extLst>
              <a:ext uri="{FF2B5EF4-FFF2-40B4-BE49-F238E27FC236}">
                <a16:creationId xmlns:a16="http://schemas.microsoft.com/office/drawing/2014/main" id="{66CE6E75-C44A-09F9-378F-016EEEAD81EF}"/>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32" name="Picture 31">
            <a:extLst>
              <a:ext uri="{FF2B5EF4-FFF2-40B4-BE49-F238E27FC236}">
                <a16:creationId xmlns:a16="http://schemas.microsoft.com/office/drawing/2014/main" id="{7E602722-1791-C241-1DF4-1B7BAD50CA90}"/>
              </a:ext>
            </a:extLst>
          </p:cNvPr>
          <p:cNvPicPr>
            <a:picLocks noChangeAspect="1"/>
          </p:cNvPicPr>
          <p:nvPr/>
        </p:nvPicPr>
        <p:blipFill>
          <a:blip r:embed="rId7"/>
          <a:stretch>
            <a:fillRect/>
          </a:stretch>
        </p:blipFill>
        <p:spPr>
          <a:xfrm>
            <a:off x="12819602" y="269203"/>
            <a:ext cx="1267537" cy="12675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2"/>
          <p:cNvSpPr/>
          <p:nvPr/>
        </p:nvSpPr>
        <p:spPr>
          <a:xfrm>
            <a:off x="793075" y="933688"/>
            <a:ext cx="10592038" cy="557570"/>
          </a:xfrm>
          <a:prstGeom prst="rect">
            <a:avLst/>
          </a:prstGeom>
          <a:noFill/>
          <a:ln/>
        </p:spPr>
        <p:txBody>
          <a:bodyPr wrap="none" lIns="0" tIns="0" rIns="0" bIns="0" rtlCol="0" anchor="t"/>
          <a:lstStyle/>
          <a:p>
            <a:pPr marL="0" indent="0" algn="l">
              <a:lnSpc>
                <a:spcPts val="4350"/>
              </a:lnSpc>
              <a:buNone/>
            </a:pPr>
            <a:r>
              <a:rPr lang="en-US" sz="3500" dirty="0">
                <a:solidFill>
                  <a:srgbClr val="F7F7F8"/>
                </a:solidFill>
                <a:latin typeface="DM Sans Medium" pitchFamily="34" charset="0"/>
                <a:ea typeface="DM Sans Medium" pitchFamily="34" charset="-122"/>
                <a:cs typeface="DM Sans Medium" pitchFamily="34" charset="-120"/>
              </a:rPr>
              <a:t>Interview Mastery: Technical &amp; Scenario Questions</a:t>
            </a:r>
            <a:endParaRPr lang="en-US" sz="3500" dirty="0"/>
          </a:p>
        </p:txBody>
      </p:sp>
      <p:sp>
        <p:nvSpPr>
          <p:cNvPr id="5" name="Text 3"/>
          <p:cNvSpPr/>
          <p:nvPr/>
        </p:nvSpPr>
        <p:spPr>
          <a:xfrm>
            <a:off x="793075" y="1732121"/>
            <a:ext cx="13044249" cy="542449"/>
          </a:xfrm>
          <a:prstGeom prst="rect">
            <a:avLst/>
          </a:prstGeom>
          <a:noFill/>
          <a:ln/>
        </p:spPr>
        <p:txBody>
          <a:bodyPr wrap="square" lIns="0" tIns="0" rIns="0" bIns="0" rtlCol="0" anchor="t"/>
          <a:lstStyle/>
          <a:p>
            <a:pPr marL="0" indent="0" algn="l">
              <a:lnSpc>
                <a:spcPts val="2100"/>
              </a:lnSpc>
              <a:buNone/>
            </a:pPr>
            <a:r>
              <a:rPr lang="en-US" sz="1400" dirty="0">
                <a:solidFill>
                  <a:srgbClr val="D6D9D7"/>
                </a:solidFill>
                <a:latin typeface="Inter" pitchFamily="34" charset="0"/>
                <a:ea typeface="Inter" pitchFamily="34" charset="-122"/>
                <a:cs typeface="Inter" pitchFamily="34" charset="-120"/>
              </a:rPr>
              <a:t>SOC interviews test both knowledge and thinking process. Interviewers want to see how you approach problems under pressure, not just memorized definitions. Practice these common questions with structured, professional responses that demonstrate real SOC experience.</a:t>
            </a:r>
            <a:endParaRPr lang="en-US" sz="1400" dirty="0"/>
          </a:p>
        </p:txBody>
      </p:sp>
      <p:sp>
        <p:nvSpPr>
          <p:cNvPr id="6" name="Shape 4"/>
          <p:cNvSpPr/>
          <p:nvPr/>
        </p:nvSpPr>
        <p:spPr>
          <a:xfrm>
            <a:off x="793075" y="2455188"/>
            <a:ext cx="4241006" cy="5228749"/>
          </a:xfrm>
          <a:prstGeom prst="roundRect">
            <a:avLst>
              <a:gd name="adj" fmla="val 631"/>
            </a:avLst>
          </a:prstGeom>
          <a:solidFill>
            <a:srgbClr val="2D3133"/>
          </a:solidFill>
          <a:ln w="22860">
            <a:solidFill>
              <a:srgbClr val="65696B"/>
            </a:solidFill>
            <a:prstDash val="solid"/>
          </a:ln>
        </p:spPr>
      </p:sp>
      <p:sp>
        <p:nvSpPr>
          <p:cNvPr id="7" name="Text 5"/>
          <p:cNvSpPr/>
          <p:nvPr/>
        </p:nvSpPr>
        <p:spPr>
          <a:xfrm>
            <a:off x="994291" y="2656403"/>
            <a:ext cx="3838575" cy="836533"/>
          </a:xfrm>
          <a:prstGeom prst="rect">
            <a:avLst/>
          </a:prstGeom>
          <a:noFill/>
          <a:ln/>
        </p:spPr>
        <p:txBody>
          <a:bodyPr wrap="square" lIns="0" tIns="0" rIns="0" bIns="0" rtlCol="0" anchor="t"/>
          <a:lstStyle/>
          <a:p>
            <a:pPr marL="0" indent="0" algn="l">
              <a:lnSpc>
                <a:spcPts val="2150"/>
              </a:lnSpc>
              <a:buNone/>
            </a:pPr>
            <a:r>
              <a:rPr lang="en-US" sz="1750" dirty="0">
                <a:solidFill>
                  <a:srgbClr val="D6D9D7"/>
                </a:solidFill>
                <a:latin typeface="DM Sans Medium" pitchFamily="34" charset="0"/>
                <a:ea typeface="DM Sans Medium" pitchFamily="34" charset="-122"/>
                <a:cs typeface="DM Sans Medium" pitchFamily="34" charset="-120"/>
              </a:rPr>
              <a:t>Question: "You receive an alert for 50 failed login attempts. What do you do?"</a:t>
            </a:r>
            <a:endParaRPr lang="en-US" sz="1750" dirty="0"/>
          </a:p>
        </p:txBody>
      </p:sp>
      <p:sp>
        <p:nvSpPr>
          <p:cNvPr id="8" name="Text 6"/>
          <p:cNvSpPr/>
          <p:nvPr/>
        </p:nvSpPr>
        <p:spPr>
          <a:xfrm>
            <a:off x="994291" y="3589258"/>
            <a:ext cx="3838575" cy="271224"/>
          </a:xfrm>
          <a:prstGeom prst="rect">
            <a:avLst/>
          </a:prstGeom>
          <a:noFill/>
          <a:ln/>
        </p:spPr>
        <p:txBody>
          <a:bodyPr wrap="none" lIns="0" tIns="0" rIns="0" bIns="0" rtlCol="0" anchor="t"/>
          <a:lstStyle/>
          <a:p>
            <a:pPr marL="0" indent="0" algn="l">
              <a:lnSpc>
                <a:spcPts val="2100"/>
              </a:lnSpc>
              <a:buNone/>
            </a:pPr>
            <a:r>
              <a:rPr lang="en-US" sz="1400" b="1" dirty="0">
                <a:solidFill>
                  <a:srgbClr val="D6D9D7"/>
                </a:solidFill>
                <a:latin typeface="Inter" pitchFamily="34" charset="0"/>
                <a:ea typeface="Inter" pitchFamily="34" charset="-122"/>
                <a:cs typeface="Inter" pitchFamily="34" charset="-120"/>
              </a:rPr>
              <a:t>Poor answer:</a:t>
            </a:r>
            <a:r>
              <a:rPr lang="en-US" sz="1400" dirty="0">
                <a:solidFill>
                  <a:srgbClr val="D6D9D7"/>
                </a:solidFill>
                <a:latin typeface="Inter" pitchFamily="34" charset="0"/>
                <a:ea typeface="Inter" pitchFamily="34" charset="-122"/>
                <a:cs typeface="Inter" pitchFamily="34" charset="-120"/>
              </a:rPr>
              <a:t> "I'd escalate it."</a:t>
            </a:r>
            <a:endParaRPr lang="en-US" sz="1400" dirty="0"/>
          </a:p>
        </p:txBody>
      </p:sp>
      <p:sp>
        <p:nvSpPr>
          <p:cNvPr id="9" name="Text 7"/>
          <p:cNvSpPr/>
          <p:nvPr/>
        </p:nvSpPr>
        <p:spPr>
          <a:xfrm>
            <a:off x="994291" y="3956804"/>
            <a:ext cx="3838575" cy="3525917"/>
          </a:xfrm>
          <a:prstGeom prst="rect">
            <a:avLst/>
          </a:prstGeom>
          <a:noFill/>
          <a:ln/>
        </p:spPr>
        <p:txBody>
          <a:bodyPr wrap="square" lIns="0" tIns="0" rIns="0" bIns="0" rtlCol="0" anchor="t"/>
          <a:lstStyle/>
          <a:p>
            <a:pPr marL="0" indent="0" algn="l">
              <a:lnSpc>
                <a:spcPts val="2100"/>
              </a:lnSpc>
              <a:buNone/>
            </a:pPr>
            <a:r>
              <a:rPr lang="en-US" sz="1400" b="1" dirty="0">
                <a:solidFill>
                  <a:srgbClr val="D6D9D7"/>
                </a:solidFill>
                <a:latin typeface="Inter" pitchFamily="34" charset="0"/>
                <a:ea typeface="Inter" pitchFamily="34" charset="-122"/>
                <a:cs typeface="Inter" pitchFamily="34" charset="-120"/>
              </a:rPr>
              <a:t>Strong answer:</a:t>
            </a:r>
            <a:r>
              <a:rPr lang="en-US" sz="1400" dirty="0">
                <a:solidFill>
                  <a:srgbClr val="D6D9D7"/>
                </a:solidFill>
                <a:latin typeface="Inter" pitchFamily="34" charset="0"/>
                <a:ea typeface="Inter" pitchFamily="34" charset="-122"/>
                <a:cs typeface="Inter" pitchFamily="34" charset="-120"/>
              </a:rPr>
              <a:t> "First, I'd check the timeframe—50 attempts in 1 minute suggests automated brute force, whilst 50 over 24 hours might be a legitimate user with password issues. I'd verify the source IP—is it internal or external? Check reputation. Review if any attempts succeeded. Check for similar activity against other accounts. If it's external automated attack, I'd block the IP and document IOCs. If internal, I'd contact the user to verify. Only escalate if I see successful compromise indicators like unusual post-login activity."</a:t>
            </a:r>
            <a:endParaRPr lang="en-US" sz="1400" dirty="0"/>
          </a:p>
        </p:txBody>
      </p:sp>
      <p:sp>
        <p:nvSpPr>
          <p:cNvPr id="10" name="Shape 8"/>
          <p:cNvSpPr/>
          <p:nvPr/>
        </p:nvSpPr>
        <p:spPr>
          <a:xfrm>
            <a:off x="5194697" y="2455188"/>
            <a:ext cx="4241006" cy="5228749"/>
          </a:xfrm>
          <a:prstGeom prst="roundRect">
            <a:avLst>
              <a:gd name="adj" fmla="val 631"/>
            </a:avLst>
          </a:prstGeom>
          <a:solidFill>
            <a:srgbClr val="2D3133"/>
          </a:solidFill>
          <a:ln w="22860">
            <a:solidFill>
              <a:srgbClr val="65696B"/>
            </a:solidFill>
            <a:prstDash val="solid"/>
          </a:ln>
        </p:spPr>
      </p:sp>
      <p:sp>
        <p:nvSpPr>
          <p:cNvPr id="11" name="Text 9"/>
          <p:cNvSpPr/>
          <p:nvPr/>
        </p:nvSpPr>
        <p:spPr>
          <a:xfrm>
            <a:off x="5395912" y="2656403"/>
            <a:ext cx="3838575" cy="557689"/>
          </a:xfrm>
          <a:prstGeom prst="rect">
            <a:avLst/>
          </a:prstGeom>
          <a:noFill/>
          <a:ln/>
        </p:spPr>
        <p:txBody>
          <a:bodyPr wrap="square" lIns="0" tIns="0" rIns="0" bIns="0" rtlCol="0" anchor="t"/>
          <a:lstStyle/>
          <a:p>
            <a:pPr marL="0" indent="0" algn="l">
              <a:lnSpc>
                <a:spcPts val="2150"/>
              </a:lnSpc>
              <a:buNone/>
            </a:pPr>
            <a:r>
              <a:rPr lang="en-US" sz="1750" dirty="0">
                <a:solidFill>
                  <a:srgbClr val="D6D9D7"/>
                </a:solidFill>
                <a:latin typeface="DM Sans Medium" pitchFamily="34" charset="0"/>
                <a:ea typeface="DM Sans Medium" pitchFamily="34" charset="-122"/>
                <a:cs typeface="DM Sans Medium" pitchFamily="34" charset="-120"/>
              </a:rPr>
              <a:t>Question: "Explain the difference between IDS and IPS."</a:t>
            </a:r>
            <a:endParaRPr lang="en-US" sz="1750" dirty="0"/>
          </a:p>
        </p:txBody>
      </p:sp>
      <p:sp>
        <p:nvSpPr>
          <p:cNvPr id="12" name="Text 10"/>
          <p:cNvSpPr/>
          <p:nvPr/>
        </p:nvSpPr>
        <p:spPr>
          <a:xfrm>
            <a:off x="5395912" y="3310414"/>
            <a:ext cx="3838575" cy="271224"/>
          </a:xfrm>
          <a:prstGeom prst="rect">
            <a:avLst/>
          </a:prstGeom>
          <a:noFill/>
          <a:ln/>
        </p:spPr>
        <p:txBody>
          <a:bodyPr wrap="none" lIns="0" tIns="0" rIns="0" bIns="0" rtlCol="0" anchor="t"/>
          <a:lstStyle/>
          <a:p>
            <a:pPr marL="0" indent="0" algn="l">
              <a:lnSpc>
                <a:spcPts val="2100"/>
              </a:lnSpc>
              <a:buNone/>
            </a:pPr>
            <a:r>
              <a:rPr lang="en-US" sz="1400" b="1" dirty="0">
                <a:solidFill>
                  <a:srgbClr val="D6D9D7"/>
                </a:solidFill>
                <a:latin typeface="Inter" pitchFamily="34" charset="0"/>
                <a:ea typeface="Inter" pitchFamily="34" charset="-122"/>
                <a:cs typeface="Inter" pitchFamily="34" charset="-120"/>
              </a:rPr>
              <a:t>Poor answer:</a:t>
            </a:r>
            <a:r>
              <a:rPr lang="en-US" sz="1400" dirty="0">
                <a:solidFill>
                  <a:srgbClr val="D6D9D7"/>
                </a:solidFill>
                <a:latin typeface="Inter" pitchFamily="34" charset="0"/>
                <a:ea typeface="Inter" pitchFamily="34" charset="-122"/>
                <a:cs typeface="Inter" pitchFamily="34" charset="-120"/>
              </a:rPr>
              <a:t> "IDS detects, IPS prevents."</a:t>
            </a:r>
            <a:endParaRPr lang="en-US" sz="1400" dirty="0"/>
          </a:p>
        </p:txBody>
      </p:sp>
      <p:sp>
        <p:nvSpPr>
          <p:cNvPr id="13" name="Text 11"/>
          <p:cNvSpPr/>
          <p:nvPr/>
        </p:nvSpPr>
        <p:spPr>
          <a:xfrm>
            <a:off x="5395912" y="3677960"/>
            <a:ext cx="3838575" cy="3254693"/>
          </a:xfrm>
          <a:prstGeom prst="rect">
            <a:avLst/>
          </a:prstGeom>
          <a:noFill/>
          <a:ln/>
        </p:spPr>
        <p:txBody>
          <a:bodyPr wrap="square" lIns="0" tIns="0" rIns="0" bIns="0" rtlCol="0" anchor="t"/>
          <a:lstStyle/>
          <a:p>
            <a:pPr marL="0" indent="0" algn="l">
              <a:lnSpc>
                <a:spcPts val="2100"/>
              </a:lnSpc>
              <a:buNone/>
            </a:pPr>
            <a:r>
              <a:rPr lang="en-US" sz="1400" b="1" dirty="0">
                <a:solidFill>
                  <a:srgbClr val="D6D9D7"/>
                </a:solidFill>
                <a:latin typeface="Inter" pitchFamily="34" charset="0"/>
                <a:ea typeface="Inter" pitchFamily="34" charset="-122"/>
                <a:cs typeface="Inter" pitchFamily="34" charset="-120"/>
              </a:rPr>
              <a:t>Strong answer:</a:t>
            </a:r>
            <a:r>
              <a:rPr lang="en-US" sz="1400" dirty="0">
                <a:solidFill>
                  <a:srgbClr val="D6D9D7"/>
                </a:solidFill>
                <a:latin typeface="Inter" pitchFamily="34" charset="0"/>
                <a:ea typeface="Inter" pitchFamily="34" charset="-122"/>
                <a:cs typeface="Inter" pitchFamily="34" charset="-120"/>
              </a:rPr>
              <a:t> "IDS (Intrusion Detection System) passively monitors network traffic and alerts on suspicious activity but doesn't block it—like a CCTV camera recording events. IPS (Intrusion Prevention System) actively blocks malicious traffic in real-time—like a security guard stopping intruders. In SOC context, IDS generates alerts we analyze, whilst IPS automatically prevents known threats. Trade-off: IPS can cause false positive blocks affecting business, so we carefully tune rules."</a:t>
            </a:r>
            <a:endParaRPr lang="en-US" sz="1400" dirty="0"/>
          </a:p>
        </p:txBody>
      </p:sp>
      <p:sp>
        <p:nvSpPr>
          <p:cNvPr id="14" name="Shape 12"/>
          <p:cNvSpPr/>
          <p:nvPr/>
        </p:nvSpPr>
        <p:spPr>
          <a:xfrm>
            <a:off x="9596318" y="2455188"/>
            <a:ext cx="4241006" cy="5228749"/>
          </a:xfrm>
          <a:prstGeom prst="roundRect">
            <a:avLst>
              <a:gd name="adj" fmla="val 631"/>
            </a:avLst>
          </a:prstGeom>
          <a:solidFill>
            <a:srgbClr val="2D3133"/>
          </a:solidFill>
          <a:ln w="22860">
            <a:solidFill>
              <a:srgbClr val="65696B"/>
            </a:solidFill>
            <a:prstDash val="solid"/>
          </a:ln>
        </p:spPr>
      </p:sp>
      <p:sp>
        <p:nvSpPr>
          <p:cNvPr id="15" name="Text 13"/>
          <p:cNvSpPr/>
          <p:nvPr/>
        </p:nvSpPr>
        <p:spPr>
          <a:xfrm>
            <a:off x="9797534" y="2656403"/>
            <a:ext cx="3838575" cy="836533"/>
          </a:xfrm>
          <a:prstGeom prst="rect">
            <a:avLst/>
          </a:prstGeom>
          <a:noFill/>
          <a:ln/>
        </p:spPr>
        <p:txBody>
          <a:bodyPr wrap="square" lIns="0" tIns="0" rIns="0" bIns="0" rtlCol="0" anchor="t"/>
          <a:lstStyle/>
          <a:p>
            <a:pPr marL="0" indent="0" algn="l">
              <a:lnSpc>
                <a:spcPts val="2150"/>
              </a:lnSpc>
              <a:buNone/>
            </a:pPr>
            <a:r>
              <a:rPr lang="en-US" sz="1750" dirty="0">
                <a:solidFill>
                  <a:srgbClr val="D6D9D7"/>
                </a:solidFill>
                <a:latin typeface="DM Sans Medium" pitchFamily="34" charset="0"/>
                <a:ea typeface="DM Sans Medium" pitchFamily="34" charset="-122"/>
                <a:cs typeface="DM Sans Medium" pitchFamily="34" charset="-120"/>
              </a:rPr>
              <a:t>Question: "A user reports their account is locked. How do you investigate?"</a:t>
            </a:r>
            <a:endParaRPr lang="en-US" sz="1750" dirty="0"/>
          </a:p>
        </p:txBody>
      </p:sp>
      <p:sp>
        <p:nvSpPr>
          <p:cNvPr id="16" name="Text 14"/>
          <p:cNvSpPr/>
          <p:nvPr/>
        </p:nvSpPr>
        <p:spPr>
          <a:xfrm>
            <a:off x="9797534" y="3589258"/>
            <a:ext cx="3838575" cy="3525917"/>
          </a:xfrm>
          <a:prstGeom prst="rect">
            <a:avLst/>
          </a:prstGeom>
          <a:noFill/>
          <a:ln/>
        </p:spPr>
        <p:txBody>
          <a:bodyPr wrap="square" lIns="0" tIns="0" rIns="0" bIns="0" rtlCol="0" anchor="t"/>
          <a:lstStyle/>
          <a:p>
            <a:pPr marL="0" indent="0" algn="l">
              <a:lnSpc>
                <a:spcPts val="2100"/>
              </a:lnSpc>
              <a:buNone/>
            </a:pPr>
            <a:r>
              <a:rPr lang="en-US" sz="1400" b="1" dirty="0">
                <a:solidFill>
                  <a:srgbClr val="D6D9D7"/>
                </a:solidFill>
                <a:latin typeface="Inter" pitchFamily="34" charset="0"/>
                <a:ea typeface="Inter" pitchFamily="34" charset="-122"/>
                <a:cs typeface="Inter" pitchFamily="34" charset="-120"/>
              </a:rPr>
              <a:t>Strong answer:</a:t>
            </a:r>
            <a:r>
              <a:rPr lang="en-US" sz="1400" dirty="0">
                <a:solidFill>
                  <a:srgbClr val="D6D9D7"/>
                </a:solidFill>
                <a:latin typeface="Inter" pitchFamily="34" charset="0"/>
                <a:ea typeface="Inter" pitchFamily="34" charset="-122"/>
                <a:cs typeface="Inter" pitchFamily="34" charset="-120"/>
              </a:rPr>
              <a:t> "I'd query SIEM for Event ID 4740 (account lockout) and 4625 (failed logins) for that username. Check: How many failed attempts? From which IP addresses? Are they internal or external? Timing pattern—rapid attempts suggest brute force, sporadic might be user error. Check if the user was actually trying to log in—call or email to verify. Review any successful logins from unusual locations. If it's a compromise attempt, I'd reset credentials, check for any successful access, and escalate for deeper investigation of potential lateral movement."</a:t>
            </a:r>
            <a:endParaRPr lang="en-US" sz="1400" dirty="0"/>
          </a:p>
        </p:txBody>
      </p:sp>
      <p:sp>
        <p:nvSpPr>
          <p:cNvPr id="17" name="TextBox 16">
            <a:extLst>
              <a:ext uri="{FF2B5EF4-FFF2-40B4-BE49-F238E27FC236}">
                <a16:creationId xmlns:a16="http://schemas.microsoft.com/office/drawing/2014/main" id="{923A68DF-222B-0880-EAEC-F30415DE9626}"/>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18" name="Picture 17">
            <a:extLst>
              <a:ext uri="{FF2B5EF4-FFF2-40B4-BE49-F238E27FC236}">
                <a16:creationId xmlns:a16="http://schemas.microsoft.com/office/drawing/2014/main" id="{C500DB8B-D686-67A0-295A-DD39BD851A5E}"/>
              </a:ext>
            </a:extLst>
          </p:cNvPr>
          <p:cNvPicPr>
            <a:picLocks noChangeAspect="1"/>
          </p:cNvPicPr>
          <p:nvPr/>
        </p:nvPicPr>
        <p:blipFill>
          <a:blip r:embed="rId3"/>
          <a:stretch>
            <a:fillRect/>
          </a:stretch>
        </p:blipFill>
        <p:spPr>
          <a:xfrm>
            <a:off x="12819602" y="269203"/>
            <a:ext cx="1267537" cy="12675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ext 2"/>
          <p:cNvSpPr/>
          <p:nvPr/>
        </p:nvSpPr>
        <p:spPr>
          <a:xfrm>
            <a:off x="793790" y="1052870"/>
            <a:ext cx="5422225" cy="465177"/>
          </a:xfrm>
          <a:prstGeom prst="rect">
            <a:avLst/>
          </a:prstGeom>
          <a:noFill/>
          <a:ln/>
        </p:spPr>
        <p:txBody>
          <a:bodyPr wrap="none" lIns="0" tIns="0" rIns="0" bIns="0" rtlCol="0" anchor="t"/>
          <a:lstStyle/>
          <a:p>
            <a:pPr marL="0" indent="0" algn="l">
              <a:lnSpc>
                <a:spcPts val="3650"/>
              </a:lnSpc>
              <a:buNone/>
            </a:pPr>
            <a:r>
              <a:rPr lang="en-US" sz="2900" dirty="0">
                <a:solidFill>
                  <a:srgbClr val="F7F7F8"/>
                </a:solidFill>
                <a:latin typeface="DM Sans Medium" pitchFamily="34" charset="0"/>
                <a:ea typeface="DM Sans Medium" pitchFamily="34" charset="-122"/>
                <a:cs typeface="DM Sans Medium" pitchFamily="34" charset="-120"/>
              </a:rPr>
              <a:t>Essential Tools &amp; Certifications</a:t>
            </a:r>
            <a:endParaRPr lang="en-US" sz="2900" dirty="0"/>
          </a:p>
        </p:txBody>
      </p:sp>
      <p:sp>
        <p:nvSpPr>
          <p:cNvPr id="5" name="Text 3"/>
          <p:cNvSpPr/>
          <p:nvPr/>
        </p:nvSpPr>
        <p:spPr>
          <a:xfrm>
            <a:off x="793790" y="1797010"/>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F7F7F8"/>
                </a:solidFill>
                <a:latin typeface="DM Sans Medium" pitchFamily="34" charset="0"/>
                <a:ea typeface="DM Sans Medium" pitchFamily="34" charset="-122"/>
                <a:cs typeface="DM Sans Medium" pitchFamily="34" charset="-120"/>
              </a:rPr>
              <a:t>Tools You Must Know</a:t>
            </a:r>
            <a:endParaRPr lang="en-US" sz="1750" dirty="0"/>
          </a:p>
        </p:txBody>
      </p:sp>
      <p:sp>
        <p:nvSpPr>
          <p:cNvPr id="6" name="Shape 4"/>
          <p:cNvSpPr/>
          <p:nvPr/>
        </p:nvSpPr>
        <p:spPr>
          <a:xfrm>
            <a:off x="778550" y="2186226"/>
            <a:ext cx="30480" cy="999649"/>
          </a:xfrm>
          <a:prstGeom prst="rect">
            <a:avLst/>
          </a:prstGeom>
          <a:solidFill>
            <a:srgbClr val="AC9EF5"/>
          </a:solidFill>
          <a:ln/>
        </p:spPr>
      </p:sp>
      <p:sp>
        <p:nvSpPr>
          <p:cNvPr id="7" name="Text 5"/>
          <p:cNvSpPr/>
          <p:nvPr/>
        </p:nvSpPr>
        <p:spPr>
          <a:xfrm>
            <a:off x="973098" y="2201466"/>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SIEM Platforms</a:t>
            </a:r>
            <a:endParaRPr lang="en-US" sz="1450" dirty="0"/>
          </a:p>
        </p:txBody>
      </p:sp>
      <p:sp>
        <p:nvSpPr>
          <p:cNvPr id="8" name="Text 6"/>
          <p:cNvSpPr/>
          <p:nvPr/>
        </p:nvSpPr>
        <p:spPr>
          <a:xfrm>
            <a:off x="973098" y="2545556"/>
            <a:ext cx="6160532" cy="625078"/>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Splunk (most common), Microsoft Sentinel (Azure), IBM QRadar. Learn one deeply—concepts transfer between platforms. Focus on: creating queries, building dashboards, correlating events.</a:t>
            </a:r>
            <a:endParaRPr lang="en-US" sz="1150" dirty="0"/>
          </a:p>
        </p:txBody>
      </p:sp>
      <p:sp>
        <p:nvSpPr>
          <p:cNvPr id="9" name="Shape 7"/>
          <p:cNvSpPr/>
          <p:nvPr/>
        </p:nvSpPr>
        <p:spPr>
          <a:xfrm>
            <a:off x="778550" y="3378637"/>
            <a:ext cx="30480" cy="791289"/>
          </a:xfrm>
          <a:prstGeom prst="rect">
            <a:avLst/>
          </a:prstGeom>
          <a:solidFill>
            <a:srgbClr val="AC9EF5"/>
          </a:solidFill>
          <a:ln/>
        </p:spPr>
      </p:sp>
      <p:sp>
        <p:nvSpPr>
          <p:cNvPr id="10" name="Text 8"/>
          <p:cNvSpPr/>
          <p:nvPr/>
        </p:nvSpPr>
        <p:spPr>
          <a:xfrm>
            <a:off x="973098" y="3393877"/>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EDR/XDR Solutions</a:t>
            </a:r>
            <a:endParaRPr lang="en-US" sz="1450" dirty="0"/>
          </a:p>
        </p:txBody>
      </p:sp>
      <p:sp>
        <p:nvSpPr>
          <p:cNvPr id="11" name="Text 9"/>
          <p:cNvSpPr/>
          <p:nvPr/>
        </p:nvSpPr>
        <p:spPr>
          <a:xfrm>
            <a:off x="973098" y="3737967"/>
            <a:ext cx="6160532" cy="416719"/>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CrowdStrike Falcon, Microsoft Defender for Endpoint, Carbon Black. Understand: endpoint telemetry, process trees, file integrity monitoring, threat hunting capabilities.</a:t>
            </a:r>
            <a:endParaRPr lang="en-US" sz="1150" dirty="0"/>
          </a:p>
        </p:txBody>
      </p:sp>
      <p:sp>
        <p:nvSpPr>
          <p:cNvPr id="12" name="Shape 10"/>
          <p:cNvSpPr/>
          <p:nvPr/>
        </p:nvSpPr>
        <p:spPr>
          <a:xfrm>
            <a:off x="778550" y="4362688"/>
            <a:ext cx="30480" cy="791289"/>
          </a:xfrm>
          <a:prstGeom prst="rect">
            <a:avLst/>
          </a:prstGeom>
          <a:solidFill>
            <a:srgbClr val="AC9EF5"/>
          </a:solidFill>
          <a:ln/>
        </p:spPr>
      </p:sp>
      <p:sp>
        <p:nvSpPr>
          <p:cNvPr id="13" name="Text 11"/>
          <p:cNvSpPr/>
          <p:nvPr/>
        </p:nvSpPr>
        <p:spPr>
          <a:xfrm>
            <a:off x="973098" y="4377928"/>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Threat Intelligence</a:t>
            </a:r>
            <a:endParaRPr lang="en-US" sz="1450" dirty="0"/>
          </a:p>
        </p:txBody>
      </p:sp>
      <p:sp>
        <p:nvSpPr>
          <p:cNvPr id="14" name="Text 12"/>
          <p:cNvSpPr/>
          <p:nvPr/>
        </p:nvSpPr>
        <p:spPr>
          <a:xfrm>
            <a:off x="973098" y="4722019"/>
            <a:ext cx="6160532" cy="416719"/>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VirusTotal, AbuseIPDB, MITRE ATT&amp;CK Navigator. Use for: IOC enrichment, reputation checks, mapping adversary techniques to detections.</a:t>
            </a:r>
            <a:endParaRPr lang="en-US" sz="1150" dirty="0"/>
          </a:p>
        </p:txBody>
      </p:sp>
      <p:sp>
        <p:nvSpPr>
          <p:cNvPr id="15" name="Shape 13"/>
          <p:cNvSpPr/>
          <p:nvPr/>
        </p:nvSpPr>
        <p:spPr>
          <a:xfrm>
            <a:off x="778550" y="5346740"/>
            <a:ext cx="30480" cy="791289"/>
          </a:xfrm>
          <a:prstGeom prst="rect">
            <a:avLst/>
          </a:prstGeom>
          <a:solidFill>
            <a:srgbClr val="AC9EF5"/>
          </a:solidFill>
          <a:ln/>
        </p:spPr>
      </p:sp>
      <p:sp>
        <p:nvSpPr>
          <p:cNvPr id="16" name="Text 14"/>
          <p:cNvSpPr/>
          <p:nvPr/>
        </p:nvSpPr>
        <p:spPr>
          <a:xfrm>
            <a:off x="973098" y="5361980"/>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Ticketing Systems</a:t>
            </a:r>
            <a:endParaRPr lang="en-US" sz="1450" dirty="0"/>
          </a:p>
        </p:txBody>
      </p:sp>
      <p:sp>
        <p:nvSpPr>
          <p:cNvPr id="17" name="Text 15"/>
          <p:cNvSpPr/>
          <p:nvPr/>
        </p:nvSpPr>
        <p:spPr>
          <a:xfrm>
            <a:off x="973098" y="5706070"/>
            <a:ext cx="6160532" cy="416719"/>
          </a:xfrm>
          <a:prstGeom prst="rect">
            <a:avLst/>
          </a:prstGeom>
          <a:noFill/>
          <a:ln/>
        </p:spPr>
        <p:txBody>
          <a:bodyPr wrap="square" lIns="0" tIns="0" rIns="0" bIns="0" rtlCol="0" anchor="t"/>
          <a:lstStyle/>
          <a:p>
            <a:pPr marL="0" indent="0" algn="l">
              <a:lnSpc>
                <a:spcPts val="1600"/>
              </a:lnSpc>
              <a:buNone/>
            </a:pPr>
            <a:r>
              <a:rPr lang="en-US" sz="1150" dirty="0">
                <a:solidFill>
                  <a:srgbClr val="D6D9D7"/>
                </a:solidFill>
                <a:latin typeface="Inter" pitchFamily="34" charset="0"/>
                <a:ea typeface="Inter" pitchFamily="34" charset="-122"/>
                <a:cs typeface="Inter" pitchFamily="34" charset="-120"/>
              </a:rPr>
              <a:t>ServiceNow, Jira. Critical for: documenting investigations, tracking escalations, maintaining audit trails, measuring KPIs.</a:t>
            </a:r>
            <a:endParaRPr lang="en-US" sz="1150" dirty="0"/>
          </a:p>
        </p:txBody>
      </p:sp>
      <p:sp>
        <p:nvSpPr>
          <p:cNvPr id="18" name="Text 16"/>
          <p:cNvSpPr/>
          <p:nvPr/>
        </p:nvSpPr>
        <p:spPr>
          <a:xfrm>
            <a:off x="7504390" y="1797010"/>
            <a:ext cx="2724031" cy="278963"/>
          </a:xfrm>
          <a:prstGeom prst="rect">
            <a:avLst/>
          </a:prstGeom>
          <a:noFill/>
          <a:ln/>
        </p:spPr>
        <p:txBody>
          <a:bodyPr wrap="none" lIns="0" tIns="0" rIns="0" bIns="0" rtlCol="0" anchor="t"/>
          <a:lstStyle/>
          <a:p>
            <a:pPr marL="0" indent="0" algn="l">
              <a:lnSpc>
                <a:spcPts val="2150"/>
              </a:lnSpc>
              <a:buNone/>
            </a:pPr>
            <a:r>
              <a:rPr lang="en-US" sz="1750" dirty="0">
                <a:solidFill>
                  <a:srgbClr val="F7F7F8"/>
                </a:solidFill>
                <a:latin typeface="DM Sans Medium" pitchFamily="34" charset="0"/>
                <a:ea typeface="DM Sans Medium" pitchFamily="34" charset="-122"/>
                <a:cs typeface="DM Sans Medium" pitchFamily="34" charset="-120"/>
              </a:rPr>
              <a:t>Certifications That Matter</a:t>
            </a:r>
            <a:endParaRPr lang="en-US" sz="1750" dirty="0"/>
          </a:p>
        </p:txBody>
      </p:sp>
      <p:sp>
        <p:nvSpPr>
          <p:cNvPr id="19" name="Text 17"/>
          <p:cNvSpPr/>
          <p:nvPr/>
        </p:nvSpPr>
        <p:spPr>
          <a:xfrm>
            <a:off x="7504390" y="2201466"/>
            <a:ext cx="148828" cy="185976"/>
          </a:xfrm>
          <a:prstGeom prst="rect">
            <a:avLst/>
          </a:prstGeom>
          <a:noFill/>
          <a:ln/>
        </p:spPr>
        <p:txBody>
          <a:bodyPr wrap="none" lIns="0" tIns="0" rIns="0" bIns="0" rtlCol="0" anchor="t"/>
          <a:lstStyle/>
          <a:p>
            <a:pPr marL="0" indent="0" algn="l">
              <a:lnSpc>
                <a:spcPts val="1600"/>
              </a:lnSpc>
              <a:buNone/>
            </a:pPr>
            <a:r>
              <a:rPr lang="en-US" sz="1150" dirty="0">
                <a:solidFill>
                  <a:srgbClr val="D6D9D7"/>
                </a:solidFill>
                <a:latin typeface="DM Sans Light" pitchFamily="34" charset="0"/>
                <a:ea typeface="DM Sans Light" pitchFamily="34" charset="-122"/>
                <a:cs typeface="DM Sans Light" pitchFamily="34" charset="-120"/>
              </a:rPr>
              <a:t>01</a:t>
            </a:r>
            <a:endParaRPr lang="en-US" sz="1150" dirty="0"/>
          </a:p>
        </p:txBody>
      </p:sp>
      <p:sp>
        <p:nvSpPr>
          <p:cNvPr id="20" name="Shape 18"/>
          <p:cNvSpPr/>
          <p:nvPr/>
        </p:nvSpPr>
        <p:spPr>
          <a:xfrm>
            <a:off x="7504390" y="2439114"/>
            <a:ext cx="6339840" cy="15240"/>
          </a:xfrm>
          <a:prstGeom prst="rect">
            <a:avLst/>
          </a:prstGeom>
          <a:solidFill>
            <a:srgbClr val="AC9EF5"/>
          </a:solidFill>
          <a:ln/>
        </p:spPr>
      </p:sp>
      <p:sp>
        <p:nvSpPr>
          <p:cNvPr id="21" name="Text 19"/>
          <p:cNvSpPr/>
          <p:nvPr/>
        </p:nvSpPr>
        <p:spPr>
          <a:xfrm>
            <a:off x="7504390" y="2544008"/>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Entry Level</a:t>
            </a:r>
            <a:endParaRPr lang="en-US" sz="1450" dirty="0"/>
          </a:p>
        </p:txBody>
      </p:sp>
      <p:sp>
        <p:nvSpPr>
          <p:cNvPr id="22" name="Text 20"/>
          <p:cNvSpPr/>
          <p:nvPr/>
        </p:nvSpPr>
        <p:spPr>
          <a:xfrm>
            <a:off x="7504390" y="2888099"/>
            <a:ext cx="6339840" cy="625078"/>
          </a:xfrm>
          <a:prstGeom prst="rect">
            <a:avLst/>
          </a:prstGeom>
          <a:noFill/>
          <a:ln/>
        </p:spPr>
        <p:txBody>
          <a:bodyPr wrap="square" lIns="0" tIns="0" rIns="0" bIns="0" rtlCol="0" anchor="t"/>
          <a:lstStyle/>
          <a:p>
            <a:pPr marL="0" indent="0" algn="l">
              <a:lnSpc>
                <a:spcPts val="1600"/>
              </a:lnSpc>
              <a:buNone/>
            </a:pPr>
            <a:r>
              <a:rPr lang="en-US" sz="1150" b="1" dirty="0">
                <a:solidFill>
                  <a:srgbClr val="D6D9D7"/>
                </a:solidFill>
                <a:latin typeface="Inter" pitchFamily="34" charset="0"/>
                <a:ea typeface="Inter" pitchFamily="34" charset="-122"/>
                <a:cs typeface="Inter" pitchFamily="34" charset="-120"/>
              </a:rPr>
              <a:t>CompTIA Security+</a:t>
            </a:r>
            <a:r>
              <a:rPr lang="en-US" sz="1150" dirty="0">
                <a:solidFill>
                  <a:srgbClr val="D6D9D7"/>
                </a:solidFill>
                <a:latin typeface="Inter" pitchFamily="34" charset="0"/>
                <a:ea typeface="Inter" pitchFamily="34" charset="-122"/>
                <a:cs typeface="Inter" pitchFamily="34" charset="-120"/>
              </a:rPr>
              <a:t> — Industry standard baseline. Many SOC roles require this as minimum qualification. Covers fundamental security concepts interviewers expect you to know.</a:t>
            </a:r>
            <a:endParaRPr lang="en-US" sz="1150" dirty="0"/>
          </a:p>
        </p:txBody>
      </p:sp>
      <p:sp>
        <p:nvSpPr>
          <p:cNvPr id="23" name="Text 21"/>
          <p:cNvSpPr/>
          <p:nvPr/>
        </p:nvSpPr>
        <p:spPr>
          <a:xfrm>
            <a:off x="7504390" y="3736300"/>
            <a:ext cx="148828" cy="185976"/>
          </a:xfrm>
          <a:prstGeom prst="rect">
            <a:avLst/>
          </a:prstGeom>
          <a:noFill/>
          <a:ln/>
        </p:spPr>
        <p:txBody>
          <a:bodyPr wrap="none" lIns="0" tIns="0" rIns="0" bIns="0" rtlCol="0" anchor="t"/>
          <a:lstStyle/>
          <a:p>
            <a:pPr marL="0" indent="0" algn="l">
              <a:lnSpc>
                <a:spcPts val="1600"/>
              </a:lnSpc>
              <a:buNone/>
            </a:pPr>
            <a:r>
              <a:rPr lang="en-US" sz="1150" dirty="0">
                <a:solidFill>
                  <a:srgbClr val="D6D9D7"/>
                </a:solidFill>
                <a:latin typeface="DM Sans Light" pitchFamily="34" charset="0"/>
                <a:ea typeface="DM Sans Light" pitchFamily="34" charset="-122"/>
                <a:cs typeface="DM Sans Light" pitchFamily="34" charset="-120"/>
              </a:rPr>
              <a:t>02</a:t>
            </a:r>
            <a:endParaRPr lang="en-US" sz="1150" dirty="0"/>
          </a:p>
        </p:txBody>
      </p:sp>
      <p:sp>
        <p:nvSpPr>
          <p:cNvPr id="24" name="Shape 22"/>
          <p:cNvSpPr/>
          <p:nvPr/>
        </p:nvSpPr>
        <p:spPr>
          <a:xfrm>
            <a:off x="7504390" y="3973949"/>
            <a:ext cx="6339840" cy="15240"/>
          </a:xfrm>
          <a:prstGeom prst="rect">
            <a:avLst/>
          </a:prstGeom>
          <a:solidFill>
            <a:srgbClr val="AC9EF5"/>
          </a:solidFill>
          <a:ln/>
        </p:spPr>
      </p:sp>
      <p:sp>
        <p:nvSpPr>
          <p:cNvPr id="25" name="Text 23"/>
          <p:cNvSpPr/>
          <p:nvPr/>
        </p:nvSpPr>
        <p:spPr>
          <a:xfrm>
            <a:off x="7504390" y="4078843"/>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Practical Skills</a:t>
            </a:r>
            <a:endParaRPr lang="en-US" sz="1450" dirty="0"/>
          </a:p>
        </p:txBody>
      </p:sp>
      <p:sp>
        <p:nvSpPr>
          <p:cNvPr id="26" name="Text 24"/>
          <p:cNvSpPr/>
          <p:nvPr/>
        </p:nvSpPr>
        <p:spPr>
          <a:xfrm>
            <a:off x="7504390" y="4422934"/>
            <a:ext cx="6339840" cy="625078"/>
          </a:xfrm>
          <a:prstGeom prst="rect">
            <a:avLst/>
          </a:prstGeom>
          <a:noFill/>
          <a:ln/>
        </p:spPr>
        <p:txBody>
          <a:bodyPr wrap="square" lIns="0" tIns="0" rIns="0" bIns="0" rtlCol="0" anchor="t"/>
          <a:lstStyle/>
          <a:p>
            <a:pPr marL="0" indent="0" algn="l">
              <a:lnSpc>
                <a:spcPts val="1600"/>
              </a:lnSpc>
              <a:buNone/>
            </a:pPr>
            <a:r>
              <a:rPr lang="en-US" sz="1150" b="1" dirty="0">
                <a:solidFill>
                  <a:srgbClr val="D6D9D7"/>
                </a:solidFill>
                <a:latin typeface="Inter" pitchFamily="34" charset="0"/>
                <a:ea typeface="Inter" pitchFamily="34" charset="-122"/>
                <a:cs typeface="Inter" pitchFamily="34" charset="-120"/>
              </a:rPr>
              <a:t>BTL1 (Blue Team Level 1)</a:t>
            </a:r>
            <a:r>
              <a:rPr lang="en-US" sz="1150" dirty="0">
                <a:solidFill>
                  <a:srgbClr val="D6D9D7"/>
                </a:solidFill>
                <a:latin typeface="Inter" pitchFamily="34" charset="0"/>
                <a:ea typeface="Inter" pitchFamily="34" charset="-122"/>
                <a:cs typeface="Inter" pitchFamily="34" charset="-120"/>
              </a:rPr>
              <a:t> or </a:t>
            </a:r>
            <a:r>
              <a:rPr lang="en-US" sz="1150" b="1" dirty="0">
                <a:solidFill>
                  <a:srgbClr val="D6D9D7"/>
                </a:solidFill>
                <a:latin typeface="Inter" pitchFamily="34" charset="0"/>
                <a:ea typeface="Inter" pitchFamily="34" charset="-122"/>
                <a:cs typeface="Inter" pitchFamily="34" charset="-120"/>
              </a:rPr>
              <a:t>CCD (Certified Cybersecurity Defender)</a:t>
            </a:r>
            <a:r>
              <a:rPr lang="en-US" sz="1150" dirty="0">
                <a:solidFill>
                  <a:srgbClr val="D6D9D7"/>
                </a:solidFill>
                <a:latin typeface="Inter" pitchFamily="34" charset="0"/>
                <a:ea typeface="Inter" pitchFamily="34" charset="-122"/>
                <a:cs typeface="Inter" pitchFamily="34" charset="-120"/>
              </a:rPr>
              <a:t> — Hands-on defensive security. These prove you can actually analyze logs and detect threats, not just memorize theory.</a:t>
            </a:r>
            <a:endParaRPr lang="en-US" sz="1150" dirty="0"/>
          </a:p>
        </p:txBody>
      </p:sp>
      <p:sp>
        <p:nvSpPr>
          <p:cNvPr id="27" name="Text 25"/>
          <p:cNvSpPr/>
          <p:nvPr/>
        </p:nvSpPr>
        <p:spPr>
          <a:xfrm>
            <a:off x="7504390" y="5271135"/>
            <a:ext cx="148828" cy="185976"/>
          </a:xfrm>
          <a:prstGeom prst="rect">
            <a:avLst/>
          </a:prstGeom>
          <a:noFill/>
          <a:ln/>
        </p:spPr>
        <p:txBody>
          <a:bodyPr wrap="none" lIns="0" tIns="0" rIns="0" bIns="0" rtlCol="0" anchor="t"/>
          <a:lstStyle/>
          <a:p>
            <a:pPr marL="0" indent="0" algn="l">
              <a:lnSpc>
                <a:spcPts val="1600"/>
              </a:lnSpc>
              <a:buNone/>
            </a:pPr>
            <a:r>
              <a:rPr lang="en-US" sz="1150" dirty="0">
                <a:solidFill>
                  <a:srgbClr val="D6D9D7"/>
                </a:solidFill>
                <a:latin typeface="DM Sans Light" pitchFamily="34" charset="0"/>
                <a:ea typeface="DM Sans Light" pitchFamily="34" charset="-122"/>
                <a:cs typeface="DM Sans Light" pitchFamily="34" charset="-120"/>
              </a:rPr>
              <a:t>03</a:t>
            </a:r>
            <a:endParaRPr lang="en-US" sz="1150" dirty="0"/>
          </a:p>
        </p:txBody>
      </p:sp>
      <p:sp>
        <p:nvSpPr>
          <p:cNvPr id="28" name="Shape 26"/>
          <p:cNvSpPr/>
          <p:nvPr/>
        </p:nvSpPr>
        <p:spPr>
          <a:xfrm>
            <a:off x="7504390" y="5508784"/>
            <a:ext cx="6339840" cy="15240"/>
          </a:xfrm>
          <a:prstGeom prst="rect">
            <a:avLst/>
          </a:prstGeom>
          <a:solidFill>
            <a:srgbClr val="AC9EF5"/>
          </a:solidFill>
          <a:ln/>
        </p:spPr>
      </p:sp>
      <p:sp>
        <p:nvSpPr>
          <p:cNvPr id="29" name="Text 27"/>
          <p:cNvSpPr/>
          <p:nvPr/>
        </p:nvSpPr>
        <p:spPr>
          <a:xfrm>
            <a:off x="7504390" y="5613678"/>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D6D9D7"/>
                </a:solidFill>
                <a:latin typeface="DM Sans Medium" pitchFamily="34" charset="0"/>
                <a:ea typeface="DM Sans Medium" pitchFamily="34" charset="-122"/>
                <a:cs typeface="DM Sans Medium" pitchFamily="34" charset="-120"/>
              </a:rPr>
              <a:t>Tool-Specific</a:t>
            </a:r>
            <a:endParaRPr lang="en-US" sz="1450" dirty="0"/>
          </a:p>
        </p:txBody>
      </p:sp>
      <p:sp>
        <p:nvSpPr>
          <p:cNvPr id="30" name="Text 28"/>
          <p:cNvSpPr/>
          <p:nvPr/>
        </p:nvSpPr>
        <p:spPr>
          <a:xfrm>
            <a:off x="7504390" y="5957768"/>
            <a:ext cx="6339840" cy="416719"/>
          </a:xfrm>
          <a:prstGeom prst="rect">
            <a:avLst/>
          </a:prstGeom>
          <a:noFill/>
          <a:ln/>
        </p:spPr>
        <p:txBody>
          <a:bodyPr wrap="square" lIns="0" tIns="0" rIns="0" bIns="0" rtlCol="0" anchor="t"/>
          <a:lstStyle/>
          <a:p>
            <a:pPr marL="0" indent="0" algn="l">
              <a:lnSpc>
                <a:spcPts val="1600"/>
              </a:lnSpc>
              <a:buNone/>
            </a:pPr>
            <a:r>
              <a:rPr lang="en-US" sz="1150" b="1" dirty="0">
                <a:solidFill>
                  <a:srgbClr val="D6D9D7"/>
                </a:solidFill>
                <a:latin typeface="Inter" pitchFamily="34" charset="0"/>
                <a:ea typeface="Inter" pitchFamily="34" charset="-122"/>
                <a:cs typeface="Inter" pitchFamily="34" charset="-120"/>
              </a:rPr>
              <a:t>Splunk Core Certified User</a:t>
            </a:r>
            <a:r>
              <a:rPr lang="en-US" sz="1150" dirty="0">
                <a:solidFill>
                  <a:srgbClr val="D6D9D7"/>
                </a:solidFill>
                <a:latin typeface="Inter" pitchFamily="34" charset="0"/>
                <a:ea typeface="Inter" pitchFamily="34" charset="-122"/>
                <a:cs typeface="Inter" pitchFamily="34" charset="-120"/>
              </a:rPr>
              <a:t> or </a:t>
            </a:r>
            <a:r>
              <a:rPr lang="en-US" sz="1150" b="1" dirty="0">
                <a:solidFill>
                  <a:srgbClr val="D6D9D7"/>
                </a:solidFill>
                <a:latin typeface="Inter" pitchFamily="34" charset="0"/>
                <a:ea typeface="Inter" pitchFamily="34" charset="-122"/>
                <a:cs typeface="Inter" pitchFamily="34" charset="-120"/>
              </a:rPr>
              <a:t>Microsoft SC-200</a:t>
            </a:r>
            <a:r>
              <a:rPr lang="en-US" sz="1150" dirty="0">
                <a:solidFill>
                  <a:srgbClr val="D6D9D7"/>
                </a:solidFill>
                <a:latin typeface="Inter" pitchFamily="34" charset="0"/>
                <a:ea typeface="Inter" pitchFamily="34" charset="-122"/>
                <a:cs typeface="Inter" pitchFamily="34" charset="-120"/>
              </a:rPr>
              <a:t> — Vendor certifications demonstrate practical tool expertise. Valuable when applying to organizations using those platforms.</a:t>
            </a:r>
            <a:endParaRPr lang="en-US" sz="1150" dirty="0"/>
          </a:p>
        </p:txBody>
      </p:sp>
      <p:sp>
        <p:nvSpPr>
          <p:cNvPr id="31" name="Shape 29"/>
          <p:cNvSpPr/>
          <p:nvPr/>
        </p:nvSpPr>
        <p:spPr>
          <a:xfrm>
            <a:off x="7504390" y="6611541"/>
            <a:ext cx="6339840" cy="740212"/>
          </a:xfrm>
          <a:prstGeom prst="roundRect">
            <a:avLst>
              <a:gd name="adj" fmla="val 3016"/>
            </a:avLst>
          </a:prstGeom>
          <a:solidFill>
            <a:srgbClr val="110745"/>
          </a:solidFill>
          <a:ln/>
        </p:spPr>
      </p:sp>
      <p:pic>
        <p:nvPicPr>
          <p:cNvPr id="32" name="Image 0" descr="preencoded.png"/>
          <p:cNvPicPr>
            <a:picLocks noChangeAspect="1"/>
          </p:cNvPicPr>
          <p:nvPr/>
        </p:nvPicPr>
        <p:blipFill>
          <a:blip r:embed="rId3"/>
          <a:stretch>
            <a:fillRect/>
          </a:stretch>
        </p:blipFill>
        <p:spPr>
          <a:xfrm>
            <a:off x="7653218" y="6819662"/>
            <a:ext cx="185976" cy="148828"/>
          </a:xfrm>
          <a:prstGeom prst="rect">
            <a:avLst/>
          </a:prstGeom>
        </p:spPr>
      </p:pic>
      <p:sp>
        <p:nvSpPr>
          <p:cNvPr id="33" name="Text 30"/>
          <p:cNvSpPr/>
          <p:nvPr/>
        </p:nvSpPr>
        <p:spPr>
          <a:xfrm>
            <a:off x="7988022" y="6760250"/>
            <a:ext cx="5707380" cy="416719"/>
          </a:xfrm>
          <a:prstGeom prst="rect">
            <a:avLst/>
          </a:prstGeom>
          <a:noFill/>
          <a:ln/>
        </p:spPr>
        <p:txBody>
          <a:bodyPr wrap="square" lIns="0" tIns="0" rIns="0" bIns="0" rtlCol="0" anchor="t"/>
          <a:lstStyle/>
          <a:p>
            <a:pPr marL="0" indent="0" algn="l">
              <a:lnSpc>
                <a:spcPts val="1600"/>
              </a:lnSpc>
              <a:buNone/>
            </a:pPr>
            <a:r>
              <a:rPr lang="en-US" sz="1150" b="1" dirty="0">
                <a:solidFill>
                  <a:srgbClr val="FFFFFF"/>
                </a:solidFill>
                <a:latin typeface="Inter" pitchFamily="34" charset="0"/>
                <a:ea typeface="Inter" pitchFamily="34" charset="-122"/>
                <a:cs typeface="Inter" pitchFamily="34" charset="-120"/>
              </a:rPr>
              <a:t>Salary Expectations:</a:t>
            </a:r>
            <a:r>
              <a:rPr lang="en-US" sz="1150" dirty="0">
                <a:solidFill>
                  <a:srgbClr val="FFFFFF"/>
                </a:solidFill>
                <a:latin typeface="Inter" pitchFamily="34" charset="0"/>
                <a:ea typeface="Inter" pitchFamily="34" charset="-122"/>
                <a:cs typeface="Inter" pitchFamily="34" charset="-120"/>
              </a:rPr>
              <a:t> India: ₹3–6 LPA for L1. UK: £25,000–£35,000. US: $50,000–$70,000. Certifications and hands-on projects significantly boost offers.</a:t>
            </a:r>
            <a:endParaRPr lang="en-US" sz="1150" dirty="0"/>
          </a:p>
        </p:txBody>
      </p:sp>
      <p:sp>
        <p:nvSpPr>
          <p:cNvPr id="34" name="TextBox 33">
            <a:extLst>
              <a:ext uri="{FF2B5EF4-FFF2-40B4-BE49-F238E27FC236}">
                <a16:creationId xmlns:a16="http://schemas.microsoft.com/office/drawing/2014/main" id="{AF5DCC4A-E6B7-27F4-AC10-C3E374CF0257}"/>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35" name="Picture 34">
            <a:extLst>
              <a:ext uri="{FF2B5EF4-FFF2-40B4-BE49-F238E27FC236}">
                <a16:creationId xmlns:a16="http://schemas.microsoft.com/office/drawing/2014/main" id="{19054DB6-5645-40DE-D395-7644884372BE}"/>
              </a:ext>
            </a:extLst>
          </p:cNvPr>
          <p:cNvPicPr>
            <a:picLocks noChangeAspect="1"/>
          </p:cNvPicPr>
          <p:nvPr/>
        </p:nvPicPr>
        <p:blipFill>
          <a:blip r:embed="rId4"/>
          <a:stretch>
            <a:fillRect/>
          </a:stretch>
        </p:blipFill>
        <p:spPr>
          <a:xfrm>
            <a:off x="12819602" y="269203"/>
            <a:ext cx="1267537" cy="12675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793790" y="990481"/>
            <a:ext cx="9053751" cy="496133"/>
          </a:xfrm>
          <a:prstGeom prst="rect">
            <a:avLst/>
          </a:prstGeom>
          <a:noFill/>
          <a:ln/>
        </p:spPr>
        <p:txBody>
          <a:bodyPr wrap="none" lIns="0" tIns="0" rIns="0" bIns="0" rtlCol="0" anchor="t"/>
          <a:lstStyle/>
          <a:p>
            <a:pPr marL="0" indent="0" algn="l">
              <a:lnSpc>
                <a:spcPts val="3900"/>
              </a:lnSpc>
              <a:buNone/>
            </a:pPr>
            <a:r>
              <a:rPr lang="en-US" sz="3100" dirty="0">
                <a:solidFill>
                  <a:srgbClr val="F7F7F8"/>
                </a:solidFill>
                <a:latin typeface="DM Sans Medium" pitchFamily="34" charset="0"/>
                <a:ea typeface="DM Sans Medium" pitchFamily="34" charset="-122"/>
                <a:cs typeface="DM Sans Medium" pitchFamily="34" charset="-120"/>
              </a:rPr>
              <a:t>Your Path Forward: From Training to Employment</a:t>
            </a:r>
            <a:endParaRPr lang="en-US" sz="3100" dirty="0"/>
          </a:p>
        </p:txBody>
      </p:sp>
      <p:sp>
        <p:nvSpPr>
          <p:cNvPr id="5" name="Text 3"/>
          <p:cNvSpPr/>
          <p:nvPr/>
        </p:nvSpPr>
        <p:spPr>
          <a:xfrm>
            <a:off x="793790" y="1677114"/>
            <a:ext cx="13042821" cy="4572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You now have the complete roadmap from absolute beginner to interview-ready SOC Analyst L1. The journey requires at least 3 months of dedicated learning, but the career opportunities are substantial—global demand for SOC analysts far exceeds supply, with thousands of unfilled positions across industries.</a:t>
            </a:r>
            <a:endParaRPr lang="en-US" sz="1250" dirty="0"/>
          </a:p>
        </p:txBody>
      </p:sp>
      <p:sp>
        <p:nvSpPr>
          <p:cNvPr id="6" name="Shape 4"/>
          <p:cNvSpPr/>
          <p:nvPr/>
        </p:nvSpPr>
        <p:spPr>
          <a:xfrm>
            <a:off x="793790" y="2277189"/>
            <a:ext cx="4262914" cy="1784628"/>
          </a:xfrm>
          <a:prstGeom prst="roundRect">
            <a:avLst>
              <a:gd name="adj" fmla="val 1335"/>
            </a:avLst>
          </a:prstGeom>
          <a:solidFill>
            <a:srgbClr val="4C5052"/>
          </a:solidFill>
          <a:ln/>
        </p:spPr>
      </p:sp>
      <p:sp>
        <p:nvSpPr>
          <p:cNvPr id="7" name="Text 5"/>
          <p:cNvSpPr/>
          <p:nvPr/>
        </p:nvSpPr>
        <p:spPr>
          <a:xfrm>
            <a:off x="952500" y="2435900"/>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Build Your Home Lab</a:t>
            </a:r>
            <a:endParaRPr lang="en-US" sz="1550" dirty="0"/>
          </a:p>
        </p:txBody>
      </p:sp>
      <p:sp>
        <p:nvSpPr>
          <p:cNvPr id="8" name="Text 6"/>
          <p:cNvSpPr/>
          <p:nvPr/>
        </p:nvSpPr>
        <p:spPr>
          <a:xfrm>
            <a:off x="952500" y="2760107"/>
            <a:ext cx="3945493" cy="11430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Set up VirtualBox with Security Onion or Wazuh (free SIEM). Practice analyzing logs, creating alerts, investigating incidents. Hands-on experience trumps theory—interviewers recognize candidates who've actually touched the tools.</a:t>
            </a:r>
            <a:endParaRPr lang="en-US" sz="1250" dirty="0"/>
          </a:p>
        </p:txBody>
      </p:sp>
      <p:sp>
        <p:nvSpPr>
          <p:cNvPr id="9" name="Shape 7"/>
          <p:cNvSpPr/>
          <p:nvPr/>
        </p:nvSpPr>
        <p:spPr>
          <a:xfrm>
            <a:off x="5183624" y="2277189"/>
            <a:ext cx="4263033" cy="1784628"/>
          </a:xfrm>
          <a:prstGeom prst="roundRect">
            <a:avLst>
              <a:gd name="adj" fmla="val 1335"/>
            </a:avLst>
          </a:prstGeom>
          <a:solidFill>
            <a:srgbClr val="4C5052"/>
          </a:solidFill>
          <a:ln/>
        </p:spPr>
      </p:sp>
      <p:sp>
        <p:nvSpPr>
          <p:cNvPr id="10" name="Text 8"/>
          <p:cNvSpPr/>
          <p:nvPr/>
        </p:nvSpPr>
        <p:spPr>
          <a:xfrm>
            <a:off x="5342334" y="2435900"/>
            <a:ext cx="2026325" cy="248007"/>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Document Everything</a:t>
            </a:r>
            <a:endParaRPr lang="en-US" sz="1550" dirty="0"/>
          </a:p>
        </p:txBody>
      </p:sp>
      <p:sp>
        <p:nvSpPr>
          <p:cNvPr id="11" name="Text 9"/>
          <p:cNvSpPr/>
          <p:nvPr/>
        </p:nvSpPr>
        <p:spPr>
          <a:xfrm>
            <a:off x="5342334" y="2760107"/>
            <a:ext cx="3945612" cy="11430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Create a portfolio on GitHub documenting your investigations, SIEM queries, incident response playbooks. This tangible proof of skills differentiates you from candidates with only certifications and no practical experience.</a:t>
            </a:r>
            <a:endParaRPr lang="en-US" sz="1250" dirty="0"/>
          </a:p>
        </p:txBody>
      </p:sp>
      <p:sp>
        <p:nvSpPr>
          <p:cNvPr id="12" name="Shape 10"/>
          <p:cNvSpPr/>
          <p:nvPr/>
        </p:nvSpPr>
        <p:spPr>
          <a:xfrm>
            <a:off x="9573578" y="2277189"/>
            <a:ext cx="4263033" cy="1784628"/>
          </a:xfrm>
          <a:prstGeom prst="roundRect">
            <a:avLst>
              <a:gd name="adj" fmla="val 1335"/>
            </a:avLst>
          </a:prstGeom>
          <a:solidFill>
            <a:srgbClr val="4C5052"/>
          </a:solidFill>
          <a:ln/>
        </p:spPr>
      </p:sp>
      <p:sp>
        <p:nvSpPr>
          <p:cNvPr id="13" name="Text 11"/>
          <p:cNvSpPr/>
          <p:nvPr/>
        </p:nvSpPr>
        <p:spPr>
          <a:xfrm>
            <a:off x="9732288" y="2435900"/>
            <a:ext cx="1997512" cy="248007"/>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Think Like a Defender</a:t>
            </a:r>
            <a:endParaRPr lang="en-US" sz="1550" dirty="0"/>
          </a:p>
        </p:txBody>
      </p:sp>
      <p:sp>
        <p:nvSpPr>
          <p:cNvPr id="14" name="Text 12"/>
          <p:cNvSpPr/>
          <p:nvPr/>
        </p:nvSpPr>
        <p:spPr>
          <a:xfrm>
            <a:off x="9732288" y="2760107"/>
            <a:ext cx="3945612" cy="11430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Every day, read security blogs, analyze real breaches, ask yourself: "How would the SOC have detected this?" Develop the mindset before the job—interviewers instantly recognize candidates who think operationally, not theoretically.</a:t>
            </a:r>
            <a:endParaRPr lang="en-US" sz="1250" dirty="0"/>
          </a:p>
        </p:txBody>
      </p:sp>
      <p:sp>
        <p:nvSpPr>
          <p:cNvPr id="15" name="Shape 13"/>
          <p:cNvSpPr/>
          <p:nvPr/>
        </p:nvSpPr>
        <p:spPr>
          <a:xfrm>
            <a:off x="793790" y="4284035"/>
            <a:ext cx="13042821" cy="27384"/>
          </a:xfrm>
          <a:prstGeom prst="rect">
            <a:avLst/>
          </a:prstGeom>
          <a:solidFill>
            <a:srgbClr val="D6D9D7">
              <a:alpha val="50000"/>
            </a:srgbClr>
          </a:solidFill>
          <a:ln/>
        </p:spPr>
      </p:sp>
      <p:sp>
        <p:nvSpPr>
          <p:cNvPr id="16" name="Text 14"/>
          <p:cNvSpPr/>
          <p:nvPr/>
        </p:nvSpPr>
        <p:spPr>
          <a:xfrm>
            <a:off x="793790" y="4501872"/>
            <a:ext cx="2981801" cy="297656"/>
          </a:xfrm>
          <a:prstGeom prst="rect">
            <a:avLst/>
          </a:prstGeom>
          <a:noFill/>
          <a:ln/>
        </p:spPr>
        <p:txBody>
          <a:bodyPr wrap="none" lIns="0" tIns="0" rIns="0" bIns="0" rtlCol="0" anchor="t"/>
          <a:lstStyle/>
          <a:p>
            <a:pPr marL="0" indent="0" algn="l">
              <a:lnSpc>
                <a:spcPts val="2300"/>
              </a:lnSpc>
              <a:buNone/>
            </a:pPr>
            <a:r>
              <a:rPr lang="en-US" sz="1850" dirty="0">
                <a:solidFill>
                  <a:srgbClr val="F7F7F8"/>
                </a:solidFill>
                <a:latin typeface="DM Sans Medium" pitchFamily="34" charset="0"/>
                <a:ea typeface="DM Sans Medium" pitchFamily="34" charset="-122"/>
                <a:cs typeface="DM Sans Medium" pitchFamily="34" charset="-120"/>
              </a:rPr>
              <a:t>Important Step</a:t>
            </a:r>
            <a:endParaRPr lang="en-US" sz="1850" dirty="0"/>
          </a:p>
        </p:txBody>
      </p:sp>
      <p:sp>
        <p:nvSpPr>
          <p:cNvPr id="21" name="Text 19"/>
          <p:cNvSpPr/>
          <p:nvPr/>
        </p:nvSpPr>
        <p:spPr>
          <a:xfrm>
            <a:off x="793790" y="4968908"/>
            <a:ext cx="11741741" cy="1243800"/>
          </a:xfrm>
          <a:prstGeom prst="rect">
            <a:avLst/>
          </a:prstGeom>
          <a:noFill/>
          <a:ln/>
        </p:spPr>
        <p:txBody>
          <a:bodyPr wrap="none" lIns="0" tIns="0" rIns="0" bIns="0" rtlCol="0" anchor="t"/>
          <a:lstStyle/>
          <a:p>
            <a:pPr marL="285750" indent="-285750" algn="l">
              <a:lnSpc>
                <a:spcPct val="150000"/>
              </a:lnSpc>
              <a:buSzPct val="100000"/>
              <a:buFont typeface="Arial" panose="020B0604020202020204" pitchFamily="34" charset="0"/>
              <a:buChar char="•"/>
            </a:pPr>
            <a:r>
              <a:rPr lang="en-US" dirty="0">
                <a:solidFill>
                  <a:srgbClr val="D6D9D7"/>
                </a:solidFill>
                <a:latin typeface="Inter" pitchFamily="34" charset="0"/>
                <a:ea typeface="Inter" pitchFamily="34" charset="-122"/>
              </a:rPr>
              <a:t>Join “SOC Analyst WhatsApp Group By Defronix” – Link Given in video Description</a:t>
            </a:r>
          </a:p>
          <a:p>
            <a:pPr marL="285750" indent="-285750">
              <a:lnSpc>
                <a:spcPct val="150000"/>
              </a:lnSpc>
              <a:buSzPct val="100000"/>
              <a:buFont typeface="Arial" panose="020B0604020202020204" pitchFamily="34" charset="0"/>
              <a:buChar char="•"/>
            </a:pPr>
            <a:r>
              <a:rPr lang="en-US" dirty="0">
                <a:solidFill>
                  <a:srgbClr val="D6D9D7"/>
                </a:solidFill>
                <a:latin typeface="Inter" pitchFamily="34" charset="0"/>
                <a:ea typeface="Inter" pitchFamily="34" charset="-122"/>
              </a:rPr>
              <a:t>Join “Defronix Academy” Free WhatsApp Channel also - Link Given in video Description</a:t>
            </a:r>
          </a:p>
          <a:p>
            <a:pPr marL="285750" indent="-285750" algn="l">
              <a:lnSpc>
                <a:spcPct val="150000"/>
              </a:lnSpc>
              <a:buSzPct val="100000"/>
              <a:buFont typeface="Arial" panose="020B0604020202020204" pitchFamily="34" charset="0"/>
              <a:buChar char="•"/>
            </a:pPr>
            <a:r>
              <a:rPr lang="en-US" dirty="0">
                <a:solidFill>
                  <a:srgbClr val="D6D9D7"/>
                </a:solidFill>
                <a:latin typeface="Inter" pitchFamily="34" charset="0"/>
                <a:ea typeface="Inter" pitchFamily="34" charset="-122"/>
              </a:rPr>
              <a:t>After each class, make key points in your notes and post on LinkedIn and tag Defronix Cyber Security</a:t>
            </a:r>
          </a:p>
        </p:txBody>
      </p:sp>
      <p:sp>
        <p:nvSpPr>
          <p:cNvPr id="22" name="Text 20"/>
          <p:cNvSpPr/>
          <p:nvPr/>
        </p:nvSpPr>
        <p:spPr>
          <a:xfrm>
            <a:off x="1016703" y="6413741"/>
            <a:ext cx="12804696" cy="457200"/>
          </a:xfrm>
          <a:prstGeom prst="rect">
            <a:avLst/>
          </a:prstGeom>
          <a:noFill/>
          <a:ln/>
        </p:spPr>
        <p:txBody>
          <a:bodyPr wrap="square" lIns="0" tIns="0" rIns="0" bIns="0" rtlCol="0" anchor="t"/>
          <a:lstStyle/>
          <a:p>
            <a:pPr marL="0" indent="0" algn="l">
              <a:lnSpc>
                <a:spcPts val="1800"/>
              </a:lnSpc>
              <a:buNone/>
            </a:pPr>
            <a:r>
              <a:rPr lang="en-US" sz="1250" dirty="0">
                <a:solidFill>
                  <a:srgbClr val="D6D9D7"/>
                </a:solidFill>
                <a:latin typeface="Inter" pitchFamily="34" charset="0"/>
                <a:ea typeface="Inter" pitchFamily="34" charset="-122"/>
                <a:cs typeface="Inter" pitchFamily="34" charset="-120"/>
              </a:rPr>
              <a:t>"The best SOC analysts aren't the ones who memorize every tool—they're the ones who understand attacker behaviour, think critically under pressure, and communicate findings clearly. Master the thinking, and the tools become simple instruments of your expertise."</a:t>
            </a:r>
            <a:endParaRPr lang="en-US" sz="1250" dirty="0"/>
          </a:p>
        </p:txBody>
      </p:sp>
      <p:sp>
        <p:nvSpPr>
          <p:cNvPr id="23" name="Shape 21"/>
          <p:cNvSpPr/>
          <p:nvPr/>
        </p:nvSpPr>
        <p:spPr>
          <a:xfrm>
            <a:off x="770930" y="6181011"/>
            <a:ext cx="22860" cy="742950"/>
          </a:xfrm>
          <a:prstGeom prst="rect">
            <a:avLst/>
          </a:prstGeom>
          <a:solidFill>
            <a:srgbClr val="AC9EF5"/>
          </a:solidFill>
          <a:ln/>
        </p:spPr>
      </p:sp>
      <p:sp>
        <p:nvSpPr>
          <p:cNvPr id="24" name="Text 22"/>
          <p:cNvSpPr/>
          <p:nvPr/>
        </p:nvSpPr>
        <p:spPr>
          <a:xfrm>
            <a:off x="793790" y="7145698"/>
            <a:ext cx="13042821" cy="228600"/>
          </a:xfrm>
          <a:prstGeom prst="rect">
            <a:avLst/>
          </a:prstGeom>
          <a:noFill/>
          <a:ln/>
        </p:spPr>
        <p:txBody>
          <a:bodyPr wrap="none" lIns="0" tIns="0" rIns="0" bIns="0" rtlCol="0" anchor="t"/>
          <a:lstStyle/>
          <a:p>
            <a:pPr marL="0" indent="0" algn="ctr">
              <a:lnSpc>
                <a:spcPts val="1800"/>
              </a:lnSpc>
              <a:buNone/>
            </a:pPr>
            <a:r>
              <a:rPr lang="en-US" dirty="0">
                <a:solidFill>
                  <a:schemeClr val="accent2"/>
                </a:solidFill>
                <a:latin typeface="Inter" pitchFamily="34" charset="0"/>
                <a:ea typeface="Inter" pitchFamily="34" charset="-122"/>
                <a:cs typeface="Inter" pitchFamily="34" charset="-120"/>
              </a:rPr>
              <a:t>Welcome to the Blue Team. </a:t>
            </a:r>
          </a:p>
          <a:p>
            <a:pPr marL="0" indent="0" algn="l">
              <a:lnSpc>
                <a:spcPts val="1800"/>
              </a:lnSpc>
              <a:buNone/>
            </a:pPr>
            <a:r>
              <a:rPr lang="en-US" dirty="0">
                <a:solidFill>
                  <a:schemeClr val="accent2"/>
                </a:solidFill>
                <a:latin typeface="Inter" pitchFamily="34" charset="0"/>
                <a:ea typeface="Inter" pitchFamily="34" charset="-122"/>
                <a:cs typeface="Inter" pitchFamily="34" charset="-120"/>
              </a:rPr>
              <a:t>Your journey to protecting organizations from cyber threats starts now with Defronix SOC Analyst Free Live Training</a:t>
            </a:r>
            <a:endParaRPr lang="en-US" dirty="0">
              <a:solidFill>
                <a:schemeClr val="accent2"/>
              </a:solidFill>
            </a:endParaRPr>
          </a:p>
        </p:txBody>
      </p:sp>
      <p:sp>
        <p:nvSpPr>
          <p:cNvPr id="25" name="TextBox 24">
            <a:extLst>
              <a:ext uri="{FF2B5EF4-FFF2-40B4-BE49-F238E27FC236}">
                <a16:creationId xmlns:a16="http://schemas.microsoft.com/office/drawing/2014/main" id="{F19222DD-9287-3AA0-0201-17574271C16C}"/>
              </a:ext>
            </a:extLst>
          </p:cNvPr>
          <p:cNvSpPr txBox="1"/>
          <p:nvPr/>
        </p:nvSpPr>
        <p:spPr>
          <a:xfrm>
            <a:off x="12123868" y="7745505"/>
            <a:ext cx="2506532" cy="369332"/>
          </a:xfrm>
          <a:prstGeom prst="rect">
            <a:avLst/>
          </a:prstGeom>
          <a:solidFill>
            <a:schemeClr val="accent2"/>
          </a:solidFill>
        </p:spPr>
        <p:txBody>
          <a:bodyPr wrap="square" rtlCol="0">
            <a:spAutoFit/>
          </a:bodyPr>
          <a:lstStyle/>
          <a:p>
            <a:r>
              <a:rPr lang="en-US" dirty="0"/>
              <a:t>https://defronix.com</a:t>
            </a:r>
            <a:endParaRPr lang="en-IN" dirty="0"/>
          </a:p>
        </p:txBody>
      </p:sp>
      <p:pic>
        <p:nvPicPr>
          <p:cNvPr id="26" name="Picture 25">
            <a:extLst>
              <a:ext uri="{FF2B5EF4-FFF2-40B4-BE49-F238E27FC236}">
                <a16:creationId xmlns:a16="http://schemas.microsoft.com/office/drawing/2014/main" id="{4FA6E2F9-69CF-1511-406E-9D1ABC519B5B}"/>
              </a:ext>
            </a:extLst>
          </p:cNvPr>
          <p:cNvPicPr>
            <a:picLocks noChangeAspect="1"/>
          </p:cNvPicPr>
          <p:nvPr/>
        </p:nvPicPr>
        <p:blipFill>
          <a:blip r:embed="rId3"/>
          <a:stretch>
            <a:fillRect/>
          </a:stretch>
        </p:blipFill>
        <p:spPr>
          <a:xfrm>
            <a:off x="12819602" y="269203"/>
            <a:ext cx="1267537" cy="12675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2360</Words>
  <Application>Microsoft Office PowerPoint</Application>
  <PresentationFormat>Custom</PresentationFormat>
  <Paragraphs>155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DM Sans Light</vt:lpstr>
      <vt:lpstr>Inter</vt:lpstr>
      <vt:lpstr>DM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Nitesh Singh</cp:lastModifiedBy>
  <cp:revision>6</cp:revision>
  <dcterms:created xsi:type="dcterms:W3CDTF">2026-01-25T11:39:16Z</dcterms:created>
  <dcterms:modified xsi:type="dcterms:W3CDTF">2026-01-25T13:00:29Z</dcterms:modified>
</cp:coreProperties>
</file>